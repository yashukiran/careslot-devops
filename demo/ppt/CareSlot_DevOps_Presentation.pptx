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CareSlot: a front-desk appointment system for a small multi-doctor clinic. The app is intentionally simple; the focus of the project is the DevOps pipeline that takes every commit from GitHub to a running, autoscaled and monitored Kubernetes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pages. Point out that the booking rules (double-booking, off-duty doctors) are enforced by the backend, not just the UI, and are covered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delivery (top) and runtime (bottom). The browser never knows internal hostnames: the Ingress routes / to the frontend and /api to the backend. Prometheus discovers backend pods through a ServiceMonitor, metrics-server feeds CPU to the HPA.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/health vs /ready: a container can be alive while unable to serve traffic. Kubernetes uses both probes. Tests run against SQLite in CI and cover booking rules, validation, priority and the activity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pipeline stages. Emphasise that tests and the security scan are gates: a failure stops the job, so nothing broken is published. SHA tags give traceability from production back 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best practices: slim base, non-root users, multi-stage frontend. Trivy is one security layer among SAST, dependency, secret and runtime scanning (see docs/trivy.md). Tell the story of the 4 HIGH findings and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manages workloads, not the network or the cluster itself. Terraform creates the VPC, subnets, NAT and EKS. Be upfront that it was validated but not applied for cost reasons, and that the pipeline already has an EKS deploy job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one Helm chart (templates + values). Show the release revisions: every deploy is a revision you can roll back to. Explain probes and why Postgres is a StatefulSet; in production I'd use Amazon RDS (trade-off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 scripts/loadtest.sh and watch kubectl get hpa -w scale the backend from 2 to 6. In Grafana show the request rate rising and the pod count panel following. HPA needs resource requests plus metrics-server.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broken-service lab live if time allows. Close with the learnings and honest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rgbClr val="0F1F2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CareSlot · DevOps Project</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F2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docs.google.com/presentation/d/1gozq9zRrB_hWzUNHuiw40d-w5joAO3xT/edit?usp=sharing" TargetMode="Externa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914400"/>
            <a:ext cx="5486400" cy="365760"/>
          </a:xfrm>
          <a:prstGeom prst="rect">
            <a:avLst/>
          </a:prstGeom>
          <a:noFill/>
          <a:ln/>
        </p:spPr>
        <p:txBody>
          <a:bodyPr wrap="square" lIns="0" tIns="0" rIns="0" bIns="0"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DevOps Project · Session 21</a:t>
            </a:r>
            <a:endParaRPr lang="en-US" sz="1400" dirty="0"/>
          </a:p>
        </p:txBody>
      </p:sp>
      <p:sp>
        <p:nvSpPr>
          <p:cNvPr id="3" name="Text 1"/>
          <p:cNvSpPr txBox="1"/>
          <p:nvPr/>
        </p:nvSpPr>
        <p:spPr>
          <a:xfrm>
            <a:off x="640080" y="1371600"/>
            <a:ext cx="54864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CareSlot</a:t>
            </a:r>
            <a:endParaRPr lang="en-US" sz="6000" dirty="0"/>
          </a:p>
        </p:txBody>
      </p:sp>
      <p:sp>
        <p:nvSpPr>
          <p:cNvPr id="4" name="Text 2"/>
          <p:cNvSpPr txBox="1"/>
          <p:nvPr/>
        </p:nvSpPr>
        <p:spPr>
          <a:xfrm>
            <a:off x="640080" y="2468880"/>
            <a:ext cx="5120640" cy="1005840"/>
          </a:xfrm>
          <a:prstGeom prst="rect">
            <a:avLst/>
          </a:prstGeom>
          <a:noFill/>
          <a:ln/>
        </p:spPr>
        <p:txBody>
          <a:bodyPr wrap="square" lIns="0" tIns="0" rIns="0" bIns="0" rtlCol="0" anchor="ctr"/>
          <a:lstStyle/>
          <a:p>
            <a:pPr indent="0" marL="0">
              <a:buNone/>
            </a:pPr>
            <a:r>
              <a:rPr lang="en-US" sz="1800" dirty="0">
                <a:solidFill>
                  <a:srgbClr val="C7D3DC"/>
                </a:solidFill>
                <a:latin typeface="Calibri" pitchFamily="34" charset="0"/>
                <a:ea typeface="Calibri" pitchFamily="34" charset="-122"/>
                <a:cs typeface="Calibri" pitchFamily="34" charset="-120"/>
              </a:rPr>
              <a:t>A clinic appointment system, built, tested, scanned, deployed and monitored through a complete DevOps pipeline</a:t>
            </a:r>
            <a:endParaRPr lang="en-US" sz="1800" dirty="0"/>
          </a:p>
        </p:txBody>
      </p:sp>
      <p:sp>
        <p:nvSpPr>
          <p:cNvPr id="5" name="Shape 3"/>
          <p:cNvSpPr/>
          <p:nvPr/>
        </p:nvSpPr>
        <p:spPr>
          <a:xfrm>
            <a:off x="640080" y="3794760"/>
            <a:ext cx="1207008" cy="347472"/>
          </a:xfrm>
          <a:prstGeom prst="roundRect">
            <a:avLst>
              <a:gd name="adj" fmla="val 21053"/>
            </a:avLst>
          </a:prstGeom>
          <a:solidFill>
            <a:srgbClr val="182D3B"/>
          </a:solidFill>
          <a:ln w="12700">
            <a:solidFill>
              <a:srgbClr val="2A4556"/>
            </a:solidFill>
            <a:prstDash val="solid"/>
          </a:ln>
        </p:spPr>
      </p:sp>
      <p:sp>
        <p:nvSpPr>
          <p:cNvPr id="6" name="Text 4"/>
          <p:cNvSpPr txBox="1"/>
          <p:nvPr/>
        </p:nvSpPr>
        <p:spPr>
          <a:xfrm>
            <a:off x="640080" y="37947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FastAPI</a:t>
            </a:r>
            <a:endParaRPr lang="en-US" sz="1100" dirty="0"/>
          </a:p>
        </p:txBody>
      </p:sp>
      <p:sp>
        <p:nvSpPr>
          <p:cNvPr id="7" name="Shape 5"/>
          <p:cNvSpPr/>
          <p:nvPr/>
        </p:nvSpPr>
        <p:spPr>
          <a:xfrm>
            <a:off x="1938528" y="3794760"/>
            <a:ext cx="1207008" cy="347472"/>
          </a:xfrm>
          <a:prstGeom prst="roundRect">
            <a:avLst>
              <a:gd name="adj" fmla="val 21053"/>
            </a:avLst>
          </a:prstGeom>
          <a:solidFill>
            <a:srgbClr val="182D3B"/>
          </a:solidFill>
          <a:ln w="12700">
            <a:solidFill>
              <a:srgbClr val="2A4556"/>
            </a:solidFill>
            <a:prstDash val="solid"/>
          </a:ln>
        </p:spPr>
      </p:sp>
      <p:sp>
        <p:nvSpPr>
          <p:cNvPr id="8" name="Text 6"/>
          <p:cNvSpPr txBox="1"/>
          <p:nvPr/>
        </p:nvSpPr>
        <p:spPr>
          <a:xfrm>
            <a:off x="1938528" y="37947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React</a:t>
            </a:r>
            <a:endParaRPr lang="en-US" sz="1100" dirty="0"/>
          </a:p>
        </p:txBody>
      </p:sp>
      <p:sp>
        <p:nvSpPr>
          <p:cNvPr id="9" name="Shape 7"/>
          <p:cNvSpPr/>
          <p:nvPr/>
        </p:nvSpPr>
        <p:spPr>
          <a:xfrm>
            <a:off x="3236976" y="3794760"/>
            <a:ext cx="1207008" cy="347472"/>
          </a:xfrm>
          <a:prstGeom prst="roundRect">
            <a:avLst>
              <a:gd name="adj" fmla="val 21053"/>
            </a:avLst>
          </a:prstGeom>
          <a:solidFill>
            <a:srgbClr val="182D3B"/>
          </a:solidFill>
          <a:ln w="12700">
            <a:solidFill>
              <a:srgbClr val="2A4556"/>
            </a:solidFill>
            <a:prstDash val="solid"/>
          </a:ln>
        </p:spPr>
      </p:sp>
      <p:sp>
        <p:nvSpPr>
          <p:cNvPr id="10" name="Text 8"/>
          <p:cNvSpPr txBox="1"/>
          <p:nvPr/>
        </p:nvSpPr>
        <p:spPr>
          <a:xfrm>
            <a:off x="3236976" y="37947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PostgreSQL</a:t>
            </a:r>
            <a:endParaRPr lang="en-US" sz="1100" dirty="0"/>
          </a:p>
        </p:txBody>
      </p:sp>
      <p:sp>
        <p:nvSpPr>
          <p:cNvPr id="11" name="Shape 9"/>
          <p:cNvSpPr/>
          <p:nvPr/>
        </p:nvSpPr>
        <p:spPr>
          <a:xfrm>
            <a:off x="4535424" y="3794760"/>
            <a:ext cx="1207008" cy="347472"/>
          </a:xfrm>
          <a:prstGeom prst="roundRect">
            <a:avLst>
              <a:gd name="adj" fmla="val 21053"/>
            </a:avLst>
          </a:prstGeom>
          <a:solidFill>
            <a:srgbClr val="182D3B"/>
          </a:solidFill>
          <a:ln w="12700">
            <a:solidFill>
              <a:srgbClr val="2A4556"/>
            </a:solidFill>
            <a:prstDash val="solid"/>
          </a:ln>
        </p:spPr>
      </p:sp>
      <p:sp>
        <p:nvSpPr>
          <p:cNvPr id="12" name="Text 10"/>
          <p:cNvSpPr txBox="1"/>
          <p:nvPr/>
        </p:nvSpPr>
        <p:spPr>
          <a:xfrm>
            <a:off x="4535424" y="37947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Docker</a:t>
            </a:r>
            <a:endParaRPr lang="en-US" sz="1100" dirty="0"/>
          </a:p>
        </p:txBody>
      </p:sp>
      <p:sp>
        <p:nvSpPr>
          <p:cNvPr id="13" name="Shape 11"/>
          <p:cNvSpPr/>
          <p:nvPr/>
        </p:nvSpPr>
        <p:spPr>
          <a:xfrm>
            <a:off x="640080" y="4251960"/>
            <a:ext cx="1207008" cy="347472"/>
          </a:xfrm>
          <a:prstGeom prst="roundRect">
            <a:avLst>
              <a:gd name="adj" fmla="val 21053"/>
            </a:avLst>
          </a:prstGeom>
          <a:solidFill>
            <a:srgbClr val="182D3B"/>
          </a:solidFill>
          <a:ln w="12700">
            <a:solidFill>
              <a:srgbClr val="2A4556"/>
            </a:solidFill>
            <a:prstDash val="solid"/>
          </a:ln>
        </p:spPr>
      </p:sp>
      <p:sp>
        <p:nvSpPr>
          <p:cNvPr id="14" name="Text 12"/>
          <p:cNvSpPr txBox="1"/>
          <p:nvPr/>
        </p:nvSpPr>
        <p:spPr>
          <a:xfrm>
            <a:off x="640080" y="42519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GitHub Actions</a:t>
            </a:r>
            <a:endParaRPr lang="en-US" sz="1100" dirty="0"/>
          </a:p>
        </p:txBody>
      </p:sp>
      <p:sp>
        <p:nvSpPr>
          <p:cNvPr id="15" name="Shape 13"/>
          <p:cNvSpPr/>
          <p:nvPr/>
        </p:nvSpPr>
        <p:spPr>
          <a:xfrm>
            <a:off x="1938528" y="4251960"/>
            <a:ext cx="1207008" cy="347472"/>
          </a:xfrm>
          <a:prstGeom prst="roundRect">
            <a:avLst>
              <a:gd name="adj" fmla="val 21053"/>
            </a:avLst>
          </a:prstGeom>
          <a:solidFill>
            <a:srgbClr val="182D3B"/>
          </a:solidFill>
          <a:ln w="12700">
            <a:solidFill>
              <a:srgbClr val="2A4556"/>
            </a:solidFill>
            <a:prstDash val="solid"/>
          </a:ln>
        </p:spPr>
      </p:sp>
      <p:sp>
        <p:nvSpPr>
          <p:cNvPr id="16" name="Text 14"/>
          <p:cNvSpPr txBox="1"/>
          <p:nvPr/>
        </p:nvSpPr>
        <p:spPr>
          <a:xfrm>
            <a:off x="1938528" y="42519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Trivy</a:t>
            </a:r>
            <a:endParaRPr lang="en-US" sz="1100" dirty="0"/>
          </a:p>
        </p:txBody>
      </p:sp>
      <p:sp>
        <p:nvSpPr>
          <p:cNvPr id="17" name="Shape 15"/>
          <p:cNvSpPr/>
          <p:nvPr/>
        </p:nvSpPr>
        <p:spPr>
          <a:xfrm>
            <a:off x="3236976" y="4251960"/>
            <a:ext cx="1207008" cy="347472"/>
          </a:xfrm>
          <a:prstGeom prst="roundRect">
            <a:avLst>
              <a:gd name="adj" fmla="val 21053"/>
            </a:avLst>
          </a:prstGeom>
          <a:solidFill>
            <a:srgbClr val="182D3B"/>
          </a:solidFill>
          <a:ln w="12700">
            <a:solidFill>
              <a:srgbClr val="2A4556"/>
            </a:solidFill>
            <a:prstDash val="solid"/>
          </a:ln>
        </p:spPr>
      </p:sp>
      <p:sp>
        <p:nvSpPr>
          <p:cNvPr id="18" name="Text 16"/>
          <p:cNvSpPr txBox="1"/>
          <p:nvPr/>
        </p:nvSpPr>
        <p:spPr>
          <a:xfrm>
            <a:off x="3236976" y="42519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GHCR</a:t>
            </a:r>
            <a:endParaRPr lang="en-US" sz="1100" dirty="0"/>
          </a:p>
        </p:txBody>
      </p:sp>
      <p:sp>
        <p:nvSpPr>
          <p:cNvPr id="19" name="Shape 17"/>
          <p:cNvSpPr/>
          <p:nvPr/>
        </p:nvSpPr>
        <p:spPr>
          <a:xfrm>
            <a:off x="4535424" y="4251960"/>
            <a:ext cx="1207008" cy="347472"/>
          </a:xfrm>
          <a:prstGeom prst="roundRect">
            <a:avLst>
              <a:gd name="adj" fmla="val 21053"/>
            </a:avLst>
          </a:prstGeom>
          <a:solidFill>
            <a:srgbClr val="182D3B"/>
          </a:solidFill>
          <a:ln w="12700">
            <a:solidFill>
              <a:srgbClr val="2A4556"/>
            </a:solidFill>
            <a:prstDash val="solid"/>
          </a:ln>
        </p:spPr>
      </p:sp>
      <p:sp>
        <p:nvSpPr>
          <p:cNvPr id="20" name="Text 18"/>
          <p:cNvSpPr txBox="1"/>
          <p:nvPr/>
        </p:nvSpPr>
        <p:spPr>
          <a:xfrm>
            <a:off x="4535424" y="42519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Terraform</a:t>
            </a:r>
            <a:endParaRPr lang="en-US" sz="1100" dirty="0"/>
          </a:p>
        </p:txBody>
      </p:sp>
      <p:sp>
        <p:nvSpPr>
          <p:cNvPr id="21" name="Shape 19"/>
          <p:cNvSpPr/>
          <p:nvPr/>
        </p:nvSpPr>
        <p:spPr>
          <a:xfrm>
            <a:off x="640080" y="4709160"/>
            <a:ext cx="1207008" cy="347472"/>
          </a:xfrm>
          <a:prstGeom prst="roundRect">
            <a:avLst>
              <a:gd name="adj" fmla="val 21053"/>
            </a:avLst>
          </a:prstGeom>
          <a:solidFill>
            <a:srgbClr val="182D3B"/>
          </a:solidFill>
          <a:ln w="12700">
            <a:solidFill>
              <a:srgbClr val="2A4556"/>
            </a:solidFill>
            <a:prstDash val="solid"/>
          </a:ln>
        </p:spPr>
      </p:sp>
      <p:sp>
        <p:nvSpPr>
          <p:cNvPr id="22" name="Text 20"/>
          <p:cNvSpPr txBox="1"/>
          <p:nvPr/>
        </p:nvSpPr>
        <p:spPr>
          <a:xfrm>
            <a:off x="640080" y="47091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Kubernetes</a:t>
            </a:r>
            <a:endParaRPr lang="en-US" sz="1100" dirty="0"/>
          </a:p>
        </p:txBody>
      </p:sp>
      <p:sp>
        <p:nvSpPr>
          <p:cNvPr id="23" name="Shape 21"/>
          <p:cNvSpPr/>
          <p:nvPr/>
        </p:nvSpPr>
        <p:spPr>
          <a:xfrm>
            <a:off x="1938528" y="4709160"/>
            <a:ext cx="1207008" cy="347472"/>
          </a:xfrm>
          <a:prstGeom prst="roundRect">
            <a:avLst>
              <a:gd name="adj" fmla="val 21053"/>
            </a:avLst>
          </a:prstGeom>
          <a:solidFill>
            <a:srgbClr val="182D3B"/>
          </a:solidFill>
          <a:ln w="12700">
            <a:solidFill>
              <a:srgbClr val="2A4556"/>
            </a:solidFill>
            <a:prstDash val="solid"/>
          </a:ln>
        </p:spPr>
      </p:sp>
      <p:sp>
        <p:nvSpPr>
          <p:cNvPr id="24" name="Text 22"/>
          <p:cNvSpPr txBox="1"/>
          <p:nvPr/>
        </p:nvSpPr>
        <p:spPr>
          <a:xfrm>
            <a:off x="1938528" y="47091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Helm</a:t>
            </a:r>
            <a:endParaRPr lang="en-US" sz="1100" dirty="0"/>
          </a:p>
        </p:txBody>
      </p:sp>
      <p:sp>
        <p:nvSpPr>
          <p:cNvPr id="25" name="Shape 23"/>
          <p:cNvSpPr/>
          <p:nvPr/>
        </p:nvSpPr>
        <p:spPr>
          <a:xfrm>
            <a:off x="3236976" y="4709160"/>
            <a:ext cx="1207008" cy="347472"/>
          </a:xfrm>
          <a:prstGeom prst="roundRect">
            <a:avLst>
              <a:gd name="adj" fmla="val 21053"/>
            </a:avLst>
          </a:prstGeom>
          <a:solidFill>
            <a:srgbClr val="182D3B"/>
          </a:solidFill>
          <a:ln w="12700">
            <a:solidFill>
              <a:srgbClr val="2A4556"/>
            </a:solidFill>
            <a:prstDash val="solid"/>
          </a:ln>
        </p:spPr>
      </p:sp>
      <p:sp>
        <p:nvSpPr>
          <p:cNvPr id="26" name="Text 24"/>
          <p:cNvSpPr txBox="1"/>
          <p:nvPr/>
        </p:nvSpPr>
        <p:spPr>
          <a:xfrm>
            <a:off x="3236976" y="47091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Prometheus</a:t>
            </a:r>
            <a:endParaRPr lang="en-US" sz="1100" dirty="0"/>
          </a:p>
        </p:txBody>
      </p:sp>
      <p:sp>
        <p:nvSpPr>
          <p:cNvPr id="27" name="Shape 25"/>
          <p:cNvSpPr/>
          <p:nvPr/>
        </p:nvSpPr>
        <p:spPr>
          <a:xfrm>
            <a:off x="4535424" y="4709160"/>
            <a:ext cx="1207008" cy="347472"/>
          </a:xfrm>
          <a:prstGeom prst="roundRect">
            <a:avLst>
              <a:gd name="adj" fmla="val 21053"/>
            </a:avLst>
          </a:prstGeom>
          <a:solidFill>
            <a:srgbClr val="182D3B"/>
          </a:solidFill>
          <a:ln w="12700">
            <a:solidFill>
              <a:srgbClr val="2A4556"/>
            </a:solidFill>
            <a:prstDash val="solid"/>
          </a:ln>
        </p:spPr>
      </p:sp>
      <p:sp>
        <p:nvSpPr>
          <p:cNvPr id="28" name="Text 26"/>
          <p:cNvSpPr txBox="1"/>
          <p:nvPr/>
        </p:nvSpPr>
        <p:spPr>
          <a:xfrm>
            <a:off x="4535424" y="4709160"/>
            <a:ext cx="12070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Grafana</a:t>
            </a:r>
            <a:endParaRPr lang="en-US" sz="1100" dirty="0"/>
          </a:p>
        </p:txBody>
      </p:sp>
      <p:sp>
        <p:nvSpPr>
          <p:cNvPr id="29" name="Text 27"/>
          <p:cNvSpPr txBox="1"/>
          <p:nvPr/>
        </p:nvSpPr>
        <p:spPr>
          <a:xfrm>
            <a:off x="640080" y="5486400"/>
            <a:ext cx="548640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Yashu Kiran</a:t>
            </a:r>
            <a:endParaRPr lang="en-US" sz="1400" dirty="0"/>
          </a:p>
          <a:p>
            <a:pPr indent="0" marL="0">
              <a:buNone/>
            </a:pPr>
            <a:r>
              <a:rPr lang="en-US" sz="1400" dirty="0">
                <a:solidFill>
                  <a:srgbClr val="5EEAD4"/>
                </a:solidFill>
                <a:latin typeface="Calibri" pitchFamily="34" charset="0"/>
                <a:ea typeface="Calibri" pitchFamily="34" charset="-122"/>
                <a:cs typeface="Calibri" pitchFamily="34" charset="-120"/>
              </a:rPr>
              <a:t>github.com/Yashukiran/careslot-devops</a:t>
            </a:r>
            <a:endParaRPr lang="en-US" sz="1400" dirty="0"/>
          </a:p>
        </p:txBody>
      </p:sp>
      <p:pic>
        <p:nvPicPr>
          <p:cNvPr id="30" name="Image 0" descr="CareSlot dashboard">    </p:cNvPr>
          <p:cNvPicPr>
            <a:picLocks noChangeAspect="1"/>
          </p:cNvPicPr>
          <p:nvPr/>
        </p:nvPicPr>
        <p:blipFill>
          <a:blip r:embed="rId1"/>
          <a:stretch>
            <a:fillRect/>
          </a:stretch>
        </p:blipFill>
        <p:spPr>
          <a:xfrm>
            <a:off x="6172200" y="1325880"/>
            <a:ext cx="5577840" cy="3172397"/>
          </a:xfrm>
          <a:prstGeom prst="rect">
            <a:avLst/>
          </a:prstGeom>
          <a:effectLst>
            <a:outerShdw sx="100000" sy="100000" kx="0" ky="0" algn="bl" rotWithShape="0" blurRad="177800" dist="76200" dir="5400000">
              <a:srgbClr val="000000">
                <a:alpha val="45000"/>
              </a:srgbClr>
            </a:outerShdw>
          </a:effectLst>
        </p:spPr>
      </p:pic>
      <p:sp>
        <p:nvSpPr>
          <p:cNvPr id="31" name="Text 28"/>
          <p:cNvSpPr txBox="1"/>
          <p:nvPr/>
        </p:nvSpPr>
        <p:spPr>
          <a:xfrm>
            <a:off x="6172200" y="4617720"/>
            <a:ext cx="5577840" cy="320040"/>
          </a:xfrm>
          <a:prstGeom prst="rect">
            <a:avLst/>
          </a:prstGeom>
          <a:noFill/>
          <a:ln/>
        </p:spPr>
        <p:txBody>
          <a:bodyPr wrap="square" lIns="0" tIns="0" rIns="0" bIns="0" rtlCol="0" anchor="ctr"/>
          <a:lstStyle/>
          <a:p>
            <a:pPr indent="0" marL="0">
              <a:buNone/>
            </a:pPr>
            <a:r>
              <a:rPr lang="en-US" sz="1100" i="1" dirty="0">
                <a:solidFill>
                  <a:srgbClr val="7F93A1"/>
                </a:solidFill>
                <a:latin typeface="Calibri" pitchFamily="34" charset="0"/>
                <a:ea typeface="Calibri" pitchFamily="34" charset="-122"/>
                <a:cs typeface="Calibri" pitchFamily="34" charset="-120"/>
              </a:rPr>
              <a:t>Live dashboard running on Kubernetes (kind) behind an NGINX Ingress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The application: a clinic front desk</a:t>
            </a:r>
            <a:endParaRPr lang="en-US" sz="3200" dirty="0"/>
          </a:p>
        </p:txBody>
      </p:sp>
      <p:sp>
        <p:nvSpPr>
          <p:cNvPr id="3" name="Text 1"/>
          <p:cNvSpPr txBox="1"/>
          <p:nvPr/>
        </p:nvSpPr>
        <p:spPr>
          <a:xfrm>
            <a:off x="548640" y="1188720"/>
            <a:ext cx="4480560" cy="8229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Small clinics still run on paper registers and Excel. CareSlot lets a receptionist book, check in and track every patient visit in one place.</a:t>
            </a:r>
            <a:endParaRPr lang="en-US" sz="1500" dirty="0"/>
          </a:p>
        </p:txBody>
      </p:sp>
      <p:sp>
        <p:nvSpPr>
          <p:cNvPr id="4" name="Shape 2"/>
          <p:cNvSpPr/>
          <p:nvPr/>
        </p:nvSpPr>
        <p:spPr>
          <a:xfrm>
            <a:off x="548640" y="2212848"/>
            <a:ext cx="384048" cy="384048"/>
          </a:xfrm>
          <a:prstGeom prst="ellipse">
            <a:avLst/>
          </a:prstGeom>
          <a:solidFill>
            <a:srgbClr val="0F766E"/>
          </a:solidFill>
          <a:ln w="12700">
            <a:solidFill>
              <a:srgbClr val="0F766E"/>
            </a:solidFill>
            <a:prstDash val="solid"/>
          </a:ln>
        </p:spPr>
      </p:sp>
      <p:sp>
        <p:nvSpPr>
          <p:cNvPr id="5" name="Text 3"/>
          <p:cNvSpPr txBox="1"/>
          <p:nvPr/>
        </p:nvSpPr>
        <p:spPr>
          <a:xfrm>
            <a:off x="548640" y="2212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2157984"/>
            <a:ext cx="3931920" cy="8229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Dashboard</a:t>
            </a:r>
            <a:endParaRPr lang="en-US" sz="1600" dirty="0"/>
          </a:p>
          <a:p>
            <a:pPr indent="0" marL="0">
              <a:buNone/>
            </a:pPr>
            <a:r>
              <a:rPr lang="en-US" sz="1300" dirty="0">
                <a:solidFill>
                  <a:srgbClr val="64748B"/>
                </a:solidFill>
                <a:latin typeface="Calibri" pitchFamily="34" charset="0"/>
                <a:ea typeface="Calibri" pitchFamily="34" charset="-122"/>
                <a:cs typeface="Calibri" pitchFamily="34" charset="-120"/>
              </a:rPr>
              <a:t>Today's KPIs, schedule, waiting room and live activity feed</a:t>
            </a:r>
            <a:endParaRPr lang="en-US" sz="1600" dirty="0"/>
          </a:p>
        </p:txBody>
      </p:sp>
      <p:sp>
        <p:nvSpPr>
          <p:cNvPr id="7" name="Shape 5"/>
          <p:cNvSpPr/>
          <p:nvPr/>
        </p:nvSpPr>
        <p:spPr>
          <a:xfrm>
            <a:off x="548640" y="3081528"/>
            <a:ext cx="384048" cy="384048"/>
          </a:xfrm>
          <a:prstGeom prst="ellipse">
            <a:avLst/>
          </a:prstGeom>
          <a:solidFill>
            <a:srgbClr val="0F766E"/>
          </a:solidFill>
          <a:ln w="12700">
            <a:solidFill>
              <a:srgbClr val="0F766E"/>
            </a:solidFill>
            <a:prstDash val="solid"/>
          </a:ln>
        </p:spPr>
      </p:sp>
      <p:sp>
        <p:nvSpPr>
          <p:cNvPr id="8" name="Text 6"/>
          <p:cNvSpPr txBox="1"/>
          <p:nvPr/>
        </p:nvSpPr>
        <p:spPr>
          <a:xfrm>
            <a:off x="548640" y="3081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97280" y="3026664"/>
            <a:ext cx="3931920" cy="8229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Appointments</a:t>
            </a:r>
            <a:endParaRPr lang="en-US" sz="1600" dirty="0"/>
          </a:p>
          <a:p>
            <a:pPr indent="0" marL="0">
              <a:buNone/>
            </a:pPr>
            <a:r>
              <a:rPr lang="en-US" sz="1300" dirty="0">
                <a:solidFill>
                  <a:srgbClr val="64748B"/>
                </a:solidFill>
                <a:latin typeface="Calibri" pitchFamily="34" charset="0"/>
                <a:ea typeface="Calibri" pitchFamily="34" charset="-122"/>
                <a:cs typeface="Calibri" pitchFamily="34" charset="-120"/>
              </a:rPr>
              <a:t>Book, filter, check in, complete; urgent priority badges</a:t>
            </a:r>
            <a:endParaRPr lang="en-US" sz="1600" dirty="0"/>
          </a:p>
        </p:txBody>
      </p:sp>
      <p:sp>
        <p:nvSpPr>
          <p:cNvPr id="10" name="Shape 8"/>
          <p:cNvSpPr/>
          <p:nvPr/>
        </p:nvSpPr>
        <p:spPr>
          <a:xfrm>
            <a:off x="548640" y="3950208"/>
            <a:ext cx="384048" cy="384048"/>
          </a:xfrm>
          <a:prstGeom prst="ellipse">
            <a:avLst/>
          </a:prstGeom>
          <a:solidFill>
            <a:srgbClr val="0F766E"/>
          </a:solidFill>
          <a:ln w="12700">
            <a:solidFill>
              <a:srgbClr val="0F766E"/>
            </a:solidFill>
            <a:prstDash val="solid"/>
          </a:ln>
        </p:spPr>
      </p:sp>
      <p:sp>
        <p:nvSpPr>
          <p:cNvPr id="11" name="Text 9"/>
          <p:cNvSpPr txBox="1"/>
          <p:nvPr/>
        </p:nvSpPr>
        <p:spPr>
          <a:xfrm>
            <a:off x="548640" y="3950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97280" y="3895344"/>
            <a:ext cx="3931920" cy="8229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Patients &amp; doctors</a:t>
            </a:r>
            <a:endParaRPr lang="en-US" sz="1600" dirty="0"/>
          </a:p>
          <a:p>
            <a:pPr indent="0" marL="0">
              <a:buNone/>
            </a:pPr>
            <a:r>
              <a:rPr lang="en-US" sz="1300" dirty="0">
                <a:solidFill>
                  <a:srgbClr val="64748B"/>
                </a:solidFill>
                <a:latin typeface="Calibri" pitchFamily="34" charset="0"/>
                <a:ea typeface="Calibri" pitchFamily="34" charset="-122"/>
                <a:cs typeface="Calibri" pitchFamily="34" charset="-120"/>
              </a:rPr>
              <a:t>Register patients, search, set doctors on or off duty</a:t>
            </a:r>
            <a:endParaRPr lang="en-US" sz="1600" dirty="0"/>
          </a:p>
        </p:txBody>
      </p:sp>
      <p:sp>
        <p:nvSpPr>
          <p:cNvPr id="13" name="Shape 11"/>
          <p:cNvSpPr/>
          <p:nvPr/>
        </p:nvSpPr>
        <p:spPr>
          <a:xfrm>
            <a:off x="548640" y="4818888"/>
            <a:ext cx="384048" cy="384048"/>
          </a:xfrm>
          <a:prstGeom prst="ellipse">
            <a:avLst/>
          </a:prstGeom>
          <a:solidFill>
            <a:srgbClr val="0F766E"/>
          </a:solidFill>
          <a:ln w="12700">
            <a:solidFill>
              <a:srgbClr val="0F766E"/>
            </a:solidFill>
            <a:prstDash val="solid"/>
          </a:ln>
        </p:spPr>
      </p:sp>
      <p:sp>
        <p:nvSpPr>
          <p:cNvPr id="14" name="Text 12"/>
          <p:cNvSpPr txBox="1"/>
          <p:nvPr/>
        </p:nvSpPr>
        <p:spPr>
          <a:xfrm>
            <a:off x="548640" y="4818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97280" y="4764024"/>
            <a:ext cx="3931920" cy="8229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Business rules in the API</a:t>
            </a:r>
            <a:endParaRPr lang="en-US" sz="1600" dirty="0"/>
          </a:p>
          <a:p>
            <a:pPr indent="0" marL="0">
              <a:buNone/>
            </a:pPr>
            <a:r>
              <a:rPr lang="en-US" sz="1300" dirty="0">
                <a:solidFill>
                  <a:srgbClr val="64748B"/>
                </a:solidFill>
                <a:latin typeface="Calibri" pitchFamily="34" charset="0"/>
                <a:ea typeface="Calibri" pitchFamily="34" charset="-122"/>
                <a:cs typeface="Calibri" pitchFamily="34" charset="-120"/>
              </a:rPr>
              <a:t>No double-booking, no off-duty bookings, unique phones</a:t>
            </a:r>
            <a:endParaRPr lang="en-US" sz="1600" dirty="0"/>
          </a:p>
        </p:txBody>
      </p:sp>
      <p:sp>
        <p:nvSpPr>
          <p:cNvPr id="16" name="Shape 14"/>
          <p:cNvSpPr/>
          <p:nvPr/>
        </p:nvSpPr>
        <p:spPr>
          <a:xfrm>
            <a:off x="5358384" y="1813655"/>
            <a:ext cx="6336792" cy="3596450"/>
          </a:xfrm>
          <a:prstGeom prst="rect">
            <a:avLst/>
          </a:prstGeom>
          <a:solidFill>
            <a:srgbClr val="FFFFFF"/>
          </a:solidFill>
          <a:ln w="9525">
            <a:solidFill>
              <a:srgbClr val="CBD5E1"/>
            </a:solidFill>
            <a:prstDash val="solid"/>
          </a:ln>
          <a:effectLst>
            <a:outerShdw sx="100000" sy="100000" kx="0" ky="0" algn="bl" rotWithShape="0" blurRad="101600" dist="38100" dir="5400000">
              <a:srgbClr val="000000">
                <a:alpha val="18000"/>
              </a:srgbClr>
            </a:outerShdw>
          </a:effectLst>
        </p:spPr>
      </p:sp>
      <p:pic>
        <p:nvPicPr>
          <p:cNvPr id="17" name="Image 0" descr="03_b_frontend_appointments.png">    </p:cNvPr>
          <p:cNvPicPr>
            <a:picLocks noChangeAspect="1"/>
          </p:cNvPicPr>
          <p:nvPr/>
        </p:nvPicPr>
        <p:blipFill>
          <a:blip r:embed="rId1"/>
          <a:stretch>
            <a:fillRect/>
          </a:stretch>
        </p:blipFill>
        <p:spPr>
          <a:xfrm>
            <a:off x="5394960" y="1850231"/>
            <a:ext cx="6263640" cy="3523298"/>
          </a:xfrm>
          <a:prstGeom prst="rect">
            <a:avLst/>
          </a:prstGeom>
        </p:spPr>
      </p:pic>
      <p:sp>
        <p:nvSpPr>
          <p:cNvPr id="18" name="Text 15"/>
          <p:cNvSpPr txBox="1"/>
          <p:nvPr/>
        </p:nvSpPr>
        <p:spPr>
          <a:xfrm>
            <a:off x="5394960" y="6080760"/>
            <a:ext cx="626364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Appointments page: filters by date, doctor, status and priority</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Architecture</a:t>
            </a:r>
            <a:endParaRPr lang="en-US" sz="3200" dirty="0"/>
          </a:p>
        </p:txBody>
      </p:sp>
      <p:sp>
        <p:nvSpPr>
          <p:cNvPr id="3" name="Text 1"/>
          <p:cNvSpPr txBox="1"/>
          <p:nvPr/>
        </p:nvSpPr>
        <p:spPr>
          <a:xfrm>
            <a:off x="548640" y="1234440"/>
            <a:ext cx="182880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DELIVERY</a:t>
            </a:r>
            <a:endParaRPr lang="en-US" sz="1100" dirty="0"/>
          </a:p>
        </p:txBody>
      </p:sp>
      <p:sp>
        <p:nvSpPr>
          <p:cNvPr id="4" name="Shape 2"/>
          <p:cNvSpPr/>
          <p:nvPr/>
        </p:nvSpPr>
        <p:spPr>
          <a:xfrm>
            <a:off x="548640" y="1554480"/>
            <a:ext cx="1828800" cy="731520"/>
          </a:xfrm>
          <a:prstGeom prst="roundRect">
            <a:avLst>
              <a:gd name="adj" fmla="val 12500"/>
            </a:avLst>
          </a:prstGeom>
          <a:solidFill>
            <a:srgbClr val="334155"/>
          </a:solidFill>
          <a:ln w="12700">
            <a:solidFill>
              <a:srgbClr val="334155"/>
            </a:solidFill>
            <a:prstDash val="solid"/>
          </a:ln>
        </p:spPr>
      </p:sp>
      <p:sp>
        <p:nvSpPr>
          <p:cNvPr id="5" name="Text 3"/>
          <p:cNvSpPr txBox="1"/>
          <p:nvPr/>
        </p:nvSpPr>
        <p:spPr>
          <a:xfrm>
            <a:off x="548640" y="1554480"/>
            <a:ext cx="1828800" cy="7315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Developer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git push</a:t>
            </a:r>
            <a:endParaRPr lang="en-US" sz="1400" dirty="0"/>
          </a:p>
        </p:txBody>
      </p:sp>
      <p:sp>
        <p:nvSpPr>
          <p:cNvPr id="6" name="Shape 4"/>
          <p:cNvSpPr/>
          <p:nvPr/>
        </p:nvSpPr>
        <p:spPr>
          <a:xfrm>
            <a:off x="2395728" y="1920240"/>
            <a:ext cx="420624" cy="914"/>
          </a:xfrm>
          <a:prstGeom prst="line">
            <a:avLst/>
          </a:prstGeom>
          <a:noFill/>
          <a:ln w="22225">
            <a:solidFill>
              <a:srgbClr val="64748B"/>
            </a:solidFill>
            <a:prstDash val="solid"/>
            <a:tailEnd type="triangle"/>
          </a:ln>
        </p:spPr>
      </p:sp>
      <p:sp>
        <p:nvSpPr>
          <p:cNvPr id="7" name="Shape 5"/>
          <p:cNvSpPr/>
          <p:nvPr/>
        </p:nvSpPr>
        <p:spPr>
          <a:xfrm>
            <a:off x="2834640" y="1554480"/>
            <a:ext cx="1828800" cy="731520"/>
          </a:xfrm>
          <a:prstGeom prst="roundRect">
            <a:avLst>
              <a:gd name="adj" fmla="val 12500"/>
            </a:avLst>
          </a:prstGeom>
          <a:solidFill>
            <a:srgbClr val="334155"/>
          </a:solidFill>
          <a:ln w="12700">
            <a:solidFill>
              <a:srgbClr val="334155"/>
            </a:solidFill>
            <a:prstDash val="solid"/>
          </a:ln>
        </p:spPr>
      </p:sp>
      <p:sp>
        <p:nvSpPr>
          <p:cNvPr id="8" name="Text 6"/>
          <p:cNvSpPr txBox="1"/>
          <p:nvPr/>
        </p:nvSpPr>
        <p:spPr>
          <a:xfrm>
            <a:off x="2834640" y="1554480"/>
            <a:ext cx="1828800" cy="7315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GitHub</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source + PRs</a:t>
            </a:r>
            <a:endParaRPr lang="en-US" sz="1400" dirty="0"/>
          </a:p>
        </p:txBody>
      </p:sp>
      <p:sp>
        <p:nvSpPr>
          <p:cNvPr id="9" name="Shape 7"/>
          <p:cNvSpPr/>
          <p:nvPr/>
        </p:nvSpPr>
        <p:spPr>
          <a:xfrm>
            <a:off x="4681728" y="1920240"/>
            <a:ext cx="420624" cy="914"/>
          </a:xfrm>
          <a:prstGeom prst="line">
            <a:avLst/>
          </a:prstGeom>
          <a:noFill/>
          <a:ln w="22225">
            <a:solidFill>
              <a:srgbClr val="64748B"/>
            </a:solidFill>
            <a:prstDash val="solid"/>
            <a:tailEnd type="triangle"/>
          </a:ln>
        </p:spPr>
      </p:sp>
      <p:sp>
        <p:nvSpPr>
          <p:cNvPr id="10" name="Shape 8"/>
          <p:cNvSpPr/>
          <p:nvPr/>
        </p:nvSpPr>
        <p:spPr>
          <a:xfrm>
            <a:off x="5120640" y="1554480"/>
            <a:ext cx="1828800" cy="731520"/>
          </a:xfrm>
          <a:prstGeom prst="roundRect">
            <a:avLst>
              <a:gd name="adj" fmla="val 12500"/>
            </a:avLst>
          </a:prstGeom>
          <a:solidFill>
            <a:srgbClr val="0F766E"/>
          </a:solidFill>
          <a:ln w="12700">
            <a:solidFill>
              <a:srgbClr val="0F766E"/>
            </a:solidFill>
            <a:prstDash val="solid"/>
          </a:ln>
        </p:spPr>
      </p:sp>
      <p:sp>
        <p:nvSpPr>
          <p:cNvPr id="11" name="Text 9"/>
          <p:cNvSpPr txBox="1"/>
          <p:nvPr/>
        </p:nvSpPr>
        <p:spPr>
          <a:xfrm>
            <a:off x="5120640" y="1554480"/>
            <a:ext cx="1828800" cy="7315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GitHub Actions</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test · build · scan</a:t>
            </a:r>
            <a:endParaRPr lang="en-US" sz="1400" dirty="0"/>
          </a:p>
        </p:txBody>
      </p:sp>
      <p:sp>
        <p:nvSpPr>
          <p:cNvPr id="12" name="Shape 10"/>
          <p:cNvSpPr/>
          <p:nvPr/>
        </p:nvSpPr>
        <p:spPr>
          <a:xfrm>
            <a:off x="6967728" y="1920240"/>
            <a:ext cx="420624" cy="914"/>
          </a:xfrm>
          <a:prstGeom prst="line">
            <a:avLst/>
          </a:prstGeom>
          <a:noFill/>
          <a:ln w="22225">
            <a:solidFill>
              <a:srgbClr val="64748B"/>
            </a:solidFill>
            <a:prstDash val="solid"/>
            <a:tailEnd type="triangle"/>
          </a:ln>
        </p:spPr>
      </p:sp>
      <p:sp>
        <p:nvSpPr>
          <p:cNvPr id="13" name="Shape 11"/>
          <p:cNvSpPr/>
          <p:nvPr/>
        </p:nvSpPr>
        <p:spPr>
          <a:xfrm>
            <a:off x="7406640" y="1554480"/>
            <a:ext cx="1828800" cy="731520"/>
          </a:xfrm>
          <a:prstGeom prst="roundRect">
            <a:avLst>
              <a:gd name="adj" fmla="val 12500"/>
            </a:avLst>
          </a:prstGeom>
          <a:solidFill>
            <a:srgbClr val="334155"/>
          </a:solidFill>
          <a:ln w="12700">
            <a:solidFill>
              <a:srgbClr val="334155"/>
            </a:solidFill>
            <a:prstDash val="solid"/>
          </a:ln>
        </p:spPr>
      </p:sp>
      <p:sp>
        <p:nvSpPr>
          <p:cNvPr id="14" name="Text 12"/>
          <p:cNvSpPr txBox="1"/>
          <p:nvPr/>
        </p:nvSpPr>
        <p:spPr>
          <a:xfrm>
            <a:off x="7406640" y="1554480"/>
            <a:ext cx="1828800" cy="7315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GHCR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images tagged by SHA</a:t>
            </a:r>
            <a:endParaRPr lang="en-US" sz="1400" dirty="0"/>
          </a:p>
        </p:txBody>
      </p:sp>
      <p:sp>
        <p:nvSpPr>
          <p:cNvPr id="15" name="Shape 13"/>
          <p:cNvSpPr/>
          <p:nvPr/>
        </p:nvSpPr>
        <p:spPr>
          <a:xfrm>
            <a:off x="9253728" y="1920240"/>
            <a:ext cx="420624" cy="914"/>
          </a:xfrm>
          <a:prstGeom prst="line">
            <a:avLst/>
          </a:prstGeom>
          <a:noFill/>
          <a:ln w="22225">
            <a:solidFill>
              <a:srgbClr val="64748B"/>
            </a:solidFill>
            <a:prstDash val="solid"/>
            <a:tailEnd type="triangle"/>
          </a:ln>
        </p:spPr>
      </p:sp>
      <p:sp>
        <p:nvSpPr>
          <p:cNvPr id="16" name="Shape 14"/>
          <p:cNvSpPr/>
          <p:nvPr/>
        </p:nvSpPr>
        <p:spPr>
          <a:xfrm>
            <a:off x="9692640" y="1554480"/>
            <a:ext cx="1828800" cy="731520"/>
          </a:xfrm>
          <a:prstGeom prst="roundRect">
            <a:avLst>
              <a:gd name="adj" fmla="val 12500"/>
            </a:avLst>
          </a:prstGeom>
          <a:solidFill>
            <a:srgbClr val="334155"/>
          </a:solidFill>
          <a:ln w="12700">
            <a:solidFill>
              <a:srgbClr val="334155"/>
            </a:solidFill>
            <a:prstDash val="solid"/>
          </a:ln>
        </p:spPr>
      </p:sp>
      <p:sp>
        <p:nvSpPr>
          <p:cNvPr id="17" name="Text 15"/>
          <p:cNvSpPr txBox="1"/>
          <p:nvPr/>
        </p:nvSpPr>
        <p:spPr>
          <a:xfrm>
            <a:off x="9692640" y="1554480"/>
            <a:ext cx="1828800" cy="7315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Helm</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upgrade --install</a:t>
            </a:r>
            <a:endParaRPr lang="en-US" sz="1400" dirty="0"/>
          </a:p>
        </p:txBody>
      </p:sp>
      <p:sp>
        <p:nvSpPr>
          <p:cNvPr id="18" name="Shape 16"/>
          <p:cNvSpPr/>
          <p:nvPr/>
        </p:nvSpPr>
        <p:spPr>
          <a:xfrm>
            <a:off x="548640" y="2697480"/>
            <a:ext cx="11064240" cy="3520440"/>
          </a:xfrm>
          <a:prstGeom prst="roundRect">
            <a:avLst>
              <a:gd name="adj" fmla="val 3117"/>
            </a:avLst>
          </a:prstGeom>
          <a:solidFill>
            <a:srgbClr val="F1F5F9"/>
          </a:solidFill>
          <a:ln w="12700">
            <a:solidFill>
              <a:srgbClr val="CBD5E1"/>
            </a:solidFill>
            <a:prstDash val="dash"/>
          </a:ln>
        </p:spPr>
      </p:sp>
      <p:sp>
        <p:nvSpPr>
          <p:cNvPr id="19" name="Text 17"/>
          <p:cNvSpPr txBox="1"/>
          <p:nvPr/>
        </p:nvSpPr>
        <p:spPr>
          <a:xfrm>
            <a:off x="777240" y="2788920"/>
            <a:ext cx="8229600" cy="2743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KUBERNETES CLUSTER  ·  namespace careslot  (kind locally, EKS via Terraform)</a:t>
            </a:r>
            <a:endParaRPr lang="en-US" sz="1100" dirty="0"/>
          </a:p>
        </p:txBody>
      </p:sp>
      <p:sp>
        <p:nvSpPr>
          <p:cNvPr id="20" name="Shape 18"/>
          <p:cNvSpPr/>
          <p:nvPr/>
        </p:nvSpPr>
        <p:spPr>
          <a:xfrm>
            <a:off x="777240" y="4114800"/>
            <a:ext cx="1371600" cy="731520"/>
          </a:xfrm>
          <a:prstGeom prst="roundRect">
            <a:avLst>
              <a:gd name="adj" fmla="val 12500"/>
            </a:avLst>
          </a:prstGeom>
          <a:solidFill>
            <a:srgbClr val="94A3B8"/>
          </a:solidFill>
          <a:ln w="12700">
            <a:solidFill>
              <a:srgbClr val="94A3B8"/>
            </a:solidFill>
            <a:prstDash val="solid"/>
          </a:ln>
        </p:spPr>
      </p:sp>
      <p:sp>
        <p:nvSpPr>
          <p:cNvPr id="21" name="Text 19"/>
          <p:cNvSpPr txBox="1"/>
          <p:nvPr/>
        </p:nvSpPr>
        <p:spPr>
          <a:xfrm>
            <a:off x="777240" y="4114800"/>
            <a:ext cx="1371600" cy="7315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Browser</a:t>
            </a:r>
            <a:endParaRPr lang="en-US" sz="1300" dirty="0"/>
          </a:p>
        </p:txBody>
      </p:sp>
      <p:sp>
        <p:nvSpPr>
          <p:cNvPr id="22" name="Shape 20"/>
          <p:cNvSpPr/>
          <p:nvPr/>
        </p:nvSpPr>
        <p:spPr>
          <a:xfrm>
            <a:off x="2167128" y="4480560"/>
            <a:ext cx="420624" cy="914"/>
          </a:xfrm>
          <a:prstGeom prst="line">
            <a:avLst/>
          </a:prstGeom>
          <a:noFill/>
          <a:ln w="22225">
            <a:solidFill>
              <a:srgbClr val="64748B"/>
            </a:solidFill>
            <a:prstDash val="solid"/>
            <a:tailEnd type="triangle"/>
          </a:ln>
        </p:spPr>
      </p:sp>
      <p:sp>
        <p:nvSpPr>
          <p:cNvPr id="23" name="Shape 21"/>
          <p:cNvSpPr/>
          <p:nvPr/>
        </p:nvSpPr>
        <p:spPr>
          <a:xfrm>
            <a:off x="2606040" y="3931920"/>
            <a:ext cx="1737360" cy="1097280"/>
          </a:xfrm>
          <a:prstGeom prst="roundRect">
            <a:avLst>
              <a:gd name="adj" fmla="val 8333"/>
            </a:avLst>
          </a:prstGeom>
          <a:solidFill>
            <a:srgbClr val="0F1F2A"/>
          </a:solidFill>
          <a:ln w="12700">
            <a:solidFill>
              <a:srgbClr val="0F1F2A"/>
            </a:solidFill>
            <a:prstDash val="solid"/>
          </a:ln>
        </p:spPr>
      </p:sp>
      <p:sp>
        <p:nvSpPr>
          <p:cNvPr id="24" name="Text 22"/>
          <p:cNvSpPr txBox="1"/>
          <p:nvPr/>
        </p:nvSpPr>
        <p:spPr>
          <a:xfrm>
            <a:off x="2606040" y="3931920"/>
            <a:ext cx="1737360" cy="10972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NGINX Ingress</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  →  frontend</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/api  →  backend</a:t>
            </a:r>
            <a:endParaRPr lang="en-US" sz="1400" dirty="0"/>
          </a:p>
        </p:txBody>
      </p:sp>
      <p:sp>
        <p:nvSpPr>
          <p:cNvPr id="25" name="Shape 23"/>
          <p:cNvSpPr/>
          <p:nvPr/>
        </p:nvSpPr>
        <p:spPr>
          <a:xfrm flipV="1">
            <a:off x="4361688" y="3611880"/>
            <a:ext cx="603504" cy="548640"/>
          </a:xfrm>
          <a:prstGeom prst="line">
            <a:avLst/>
          </a:prstGeom>
          <a:noFill/>
          <a:ln w="22225">
            <a:solidFill>
              <a:srgbClr val="64748B"/>
            </a:solidFill>
            <a:prstDash val="solid"/>
            <a:tailEnd type="triangle"/>
          </a:ln>
        </p:spPr>
      </p:sp>
      <p:sp>
        <p:nvSpPr>
          <p:cNvPr id="26" name="Shape 24"/>
          <p:cNvSpPr/>
          <p:nvPr/>
        </p:nvSpPr>
        <p:spPr>
          <a:xfrm>
            <a:off x="4361688" y="4800600"/>
            <a:ext cx="603504" cy="457200"/>
          </a:xfrm>
          <a:prstGeom prst="line">
            <a:avLst/>
          </a:prstGeom>
          <a:noFill/>
          <a:ln w="22225">
            <a:solidFill>
              <a:srgbClr val="64748B"/>
            </a:solidFill>
            <a:prstDash val="solid"/>
            <a:tailEnd type="triangle"/>
          </a:ln>
        </p:spPr>
      </p:sp>
      <p:sp>
        <p:nvSpPr>
          <p:cNvPr id="27" name="Shape 25"/>
          <p:cNvSpPr/>
          <p:nvPr/>
        </p:nvSpPr>
        <p:spPr>
          <a:xfrm>
            <a:off x="4983480" y="3200400"/>
            <a:ext cx="2103120" cy="822960"/>
          </a:xfrm>
          <a:prstGeom prst="roundRect">
            <a:avLst>
              <a:gd name="adj" fmla="val 11111"/>
            </a:avLst>
          </a:prstGeom>
          <a:solidFill>
            <a:srgbClr val="0E7490"/>
          </a:solidFill>
          <a:ln w="12700">
            <a:solidFill>
              <a:srgbClr val="0E7490"/>
            </a:solidFill>
            <a:prstDash val="solid"/>
          </a:ln>
        </p:spPr>
      </p:sp>
      <p:sp>
        <p:nvSpPr>
          <p:cNvPr id="28" name="Text 26"/>
          <p:cNvSpPr txBox="1"/>
          <p:nvPr/>
        </p:nvSpPr>
        <p:spPr>
          <a:xfrm>
            <a:off x="4983480" y="3200400"/>
            <a:ext cx="2103120" cy="82296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React + nginx · 2 pods</a:t>
            </a:r>
            <a:endParaRPr lang="en-US" sz="1400" dirty="0"/>
          </a:p>
        </p:txBody>
      </p:sp>
      <p:sp>
        <p:nvSpPr>
          <p:cNvPr id="29" name="Shape 27"/>
          <p:cNvSpPr/>
          <p:nvPr/>
        </p:nvSpPr>
        <p:spPr>
          <a:xfrm>
            <a:off x="4983480" y="4846320"/>
            <a:ext cx="2103120" cy="822960"/>
          </a:xfrm>
          <a:prstGeom prst="roundRect">
            <a:avLst>
              <a:gd name="adj" fmla="val 11111"/>
            </a:avLst>
          </a:prstGeom>
          <a:solidFill>
            <a:srgbClr val="0F766E"/>
          </a:solidFill>
          <a:ln w="12700">
            <a:solidFill>
              <a:srgbClr val="0F766E"/>
            </a:solidFill>
            <a:prstDash val="solid"/>
          </a:ln>
        </p:spPr>
      </p:sp>
      <p:sp>
        <p:nvSpPr>
          <p:cNvPr id="30" name="Text 28"/>
          <p:cNvSpPr txBox="1"/>
          <p:nvPr/>
        </p:nvSpPr>
        <p:spPr>
          <a:xfrm>
            <a:off x="4983480" y="4846320"/>
            <a:ext cx="2103120" cy="82296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 API</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FastAPI · 2–6 pods (HPA)</a:t>
            </a:r>
            <a:endParaRPr lang="en-US" sz="1400" dirty="0"/>
          </a:p>
        </p:txBody>
      </p:sp>
      <p:sp>
        <p:nvSpPr>
          <p:cNvPr id="31" name="Shape 29"/>
          <p:cNvSpPr/>
          <p:nvPr/>
        </p:nvSpPr>
        <p:spPr>
          <a:xfrm>
            <a:off x="7104888" y="5257800"/>
            <a:ext cx="603504" cy="914"/>
          </a:xfrm>
          <a:prstGeom prst="line">
            <a:avLst/>
          </a:prstGeom>
          <a:noFill/>
          <a:ln w="22225">
            <a:solidFill>
              <a:srgbClr val="64748B"/>
            </a:solidFill>
            <a:prstDash val="solid"/>
            <a:tailEnd type="triangle"/>
          </a:ln>
        </p:spPr>
      </p:sp>
      <p:sp>
        <p:nvSpPr>
          <p:cNvPr id="32" name="Shape 30"/>
          <p:cNvSpPr/>
          <p:nvPr/>
        </p:nvSpPr>
        <p:spPr>
          <a:xfrm>
            <a:off x="7726680" y="4846320"/>
            <a:ext cx="1828800" cy="822960"/>
          </a:xfrm>
          <a:prstGeom prst="roundRect">
            <a:avLst>
              <a:gd name="adj" fmla="val 11111"/>
            </a:avLst>
          </a:prstGeom>
          <a:solidFill>
            <a:srgbClr val="475569"/>
          </a:solidFill>
          <a:ln w="12700">
            <a:solidFill>
              <a:srgbClr val="475569"/>
            </a:solidFill>
            <a:prstDash val="solid"/>
          </a:ln>
        </p:spPr>
      </p:sp>
      <p:sp>
        <p:nvSpPr>
          <p:cNvPr id="33" name="Text 31"/>
          <p:cNvSpPr txBox="1"/>
          <p:nvPr/>
        </p:nvSpPr>
        <p:spPr>
          <a:xfrm>
            <a:off x="7726680" y="4846320"/>
            <a:ext cx="1828800" cy="82296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PostgreSQL</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StatefulSet + PVC</a:t>
            </a:r>
            <a:endParaRPr lang="en-US" sz="1400" dirty="0"/>
          </a:p>
        </p:txBody>
      </p:sp>
      <p:sp>
        <p:nvSpPr>
          <p:cNvPr id="34" name="Shape 32"/>
          <p:cNvSpPr/>
          <p:nvPr/>
        </p:nvSpPr>
        <p:spPr>
          <a:xfrm>
            <a:off x="7726680" y="3200400"/>
            <a:ext cx="1828800" cy="822960"/>
          </a:xfrm>
          <a:prstGeom prst="roundRect">
            <a:avLst>
              <a:gd name="adj" fmla="val 11111"/>
            </a:avLst>
          </a:prstGeom>
          <a:solidFill>
            <a:srgbClr val="B45309"/>
          </a:solidFill>
          <a:ln w="12700">
            <a:solidFill>
              <a:srgbClr val="B45309"/>
            </a:solidFill>
            <a:prstDash val="solid"/>
          </a:ln>
        </p:spPr>
      </p:sp>
      <p:sp>
        <p:nvSpPr>
          <p:cNvPr id="35" name="Text 33"/>
          <p:cNvSpPr txBox="1"/>
          <p:nvPr/>
        </p:nvSpPr>
        <p:spPr>
          <a:xfrm>
            <a:off x="7726680" y="3200400"/>
            <a:ext cx="1828800" cy="82296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Prometheus</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ServiceMonitor</a:t>
            </a:r>
            <a:endParaRPr lang="en-US" sz="1400" dirty="0"/>
          </a:p>
        </p:txBody>
      </p:sp>
      <p:sp>
        <p:nvSpPr>
          <p:cNvPr id="36" name="Shape 34"/>
          <p:cNvSpPr/>
          <p:nvPr/>
        </p:nvSpPr>
        <p:spPr>
          <a:xfrm flipH="1">
            <a:off x="6766560" y="3794760"/>
            <a:ext cx="941832" cy="1033272"/>
          </a:xfrm>
          <a:prstGeom prst="line">
            <a:avLst/>
          </a:prstGeom>
          <a:noFill/>
          <a:ln w="22225">
            <a:solidFill>
              <a:srgbClr val="B45309"/>
            </a:solidFill>
            <a:prstDash val="solid"/>
            <a:tailEnd type="triangle"/>
          </a:ln>
        </p:spPr>
      </p:sp>
      <p:sp>
        <p:nvSpPr>
          <p:cNvPr id="37" name="Text 35"/>
          <p:cNvSpPr txBox="1"/>
          <p:nvPr/>
        </p:nvSpPr>
        <p:spPr>
          <a:xfrm>
            <a:off x="7360920" y="4297680"/>
            <a:ext cx="1280160" cy="274320"/>
          </a:xfrm>
          <a:prstGeom prst="rect">
            <a:avLst/>
          </a:prstGeom>
          <a:noFill/>
          <a:ln/>
        </p:spPr>
        <p:txBody>
          <a:bodyPr wrap="square" lIns="0" tIns="0" rIns="0" bIns="0" rtlCol="0" anchor="ctr"/>
          <a:lstStyle/>
          <a:p>
            <a:pPr indent="0" marL="0">
              <a:buNone/>
            </a:pPr>
            <a:r>
              <a:rPr lang="en-US" sz="1000" i="1" dirty="0">
                <a:solidFill>
                  <a:srgbClr val="B45309"/>
                </a:solidFill>
                <a:latin typeface="Calibri" pitchFamily="34" charset="0"/>
                <a:ea typeface="Calibri" pitchFamily="34" charset="-122"/>
                <a:cs typeface="Calibri" pitchFamily="34" charset="-120"/>
              </a:rPr>
              <a:t>scrapes /metrics</a:t>
            </a:r>
            <a:endParaRPr lang="en-US" sz="1000" dirty="0"/>
          </a:p>
        </p:txBody>
      </p:sp>
      <p:sp>
        <p:nvSpPr>
          <p:cNvPr id="38" name="Shape 36"/>
          <p:cNvSpPr/>
          <p:nvPr/>
        </p:nvSpPr>
        <p:spPr>
          <a:xfrm>
            <a:off x="9573768" y="3611880"/>
            <a:ext cx="420624" cy="914"/>
          </a:xfrm>
          <a:prstGeom prst="line">
            <a:avLst/>
          </a:prstGeom>
          <a:noFill/>
          <a:ln w="22225">
            <a:solidFill>
              <a:srgbClr val="B45309"/>
            </a:solidFill>
            <a:prstDash val="solid"/>
            <a:tailEnd type="triangle"/>
          </a:ln>
        </p:spPr>
      </p:sp>
      <p:sp>
        <p:nvSpPr>
          <p:cNvPr id="39" name="Shape 37"/>
          <p:cNvSpPr/>
          <p:nvPr/>
        </p:nvSpPr>
        <p:spPr>
          <a:xfrm>
            <a:off x="10012680" y="3200400"/>
            <a:ext cx="1371600" cy="822960"/>
          </a:xfrm>
          <a:prstGeom prst="roundRect">
            <a:avLst>
              <a:gd name="adj" fmla="val 11111"/>
            </a:avLst>
          </a:prstGeom>
          <a:solidFill>
            <a:srgbClr val="F59E0B"/>
          </a:solidFill>
          <a:ln w="12700">
            <a:solidFill>
              <a:srgbClr val="F59E0B"/>
            </a:solidFill>
            <a:prstDash val="solid"/>
          </a:ln>
        </p:spPr>
      </p:sp>
      <p:sp>
        <p:nvSpPr>
          <p:cNvPr id="40" name="Text 38"/>
          <p:cNvSpPr txBox="1"/>
          <p:nvPr/>
        </p:nvSpPr>
        <p:spPr>
          <a:xfrm>
            <a:off x="10012680" y="3200400"/>
            <a:ext cx="1371600" cy="822960"/>
          </a:xfrm>
          <a:prstGeom prst="rect">
            <a:avLst/>
          </a:prstGeom>
          <a:noFill/>
          <a:ln/>
        </p:spPr>
        <p:txBody>
          <a:bodyPr wrap="square" lIns="25400" tIns="25400" rIns="25400" bIns="25400" rtlCol="0" anchor="ctr"/>
          <a:lstStyle/>
          <a:p>
            <a:pPr algn="ctr" indent="0" marL="0">
              <a:buNone/>
            </a:pPr>
            <a:r>
              <a:rPr lang="en-US" sz="1400" b="1" dirty="0">
                <a:solidFill>
                  <a:srgbClr val="0F1F2A"/>
                </a:solidFill>
                <a:latin typeface="Calibri" pitchFamily="34" charset="0"/>
                <a:ea typeface="Calibri" pitchFamily="34" charset="-122"/>
                <a:cs typeface="Calibri" pitchFamily="34" charset="-120"/>
              </a:rPr>
              <a:t>Grafana</a:t>
            </a:r>
            <a:endParaRPr lang="en-US" sz="1400" dirty="0"/>
          </a:p>
          <a:p>
            <a:pPr algn="ctr" indent="0" marL="0">
              <a:buNone/>
            </a:pPr>
            <a:r>
              <a:rPr lang="en-US" sz="1100" dirty="0">
                <a:solidFill>
                  <a:srgbClr val="0F1F2A"/>
                </a:solidFill>
                <a:latin typeface="Calibri" pitchFamily="34" charset="0"/>
                <a:ea typeface="Calibri" pitchFamily="34" charset="-122"/>
                <a:cs typeface="Calibri" pitchFamily="34" charset="-120"/>
              </a:rPr>
              <a:t>dashboards</a:t>
            </a:r>
            <a:endParaRPr lang="en-US" sz="1400" dirty="0"/>
          </a:p>
        </p:txBody>
      </p:sp>
      <p:sp>
        <p:nvSpPr>
          <p:cNvPr id="41" name="Shape 39"/>
          <p:cNvSpPr/>
          <p:nvPr/>
        </p:nvSpPr>
        <p:spPr>
          <a:xfrm>
            <a:off x="10012680" y="4846320"/>
            <a:ext cx="1371600" cy="822960"/>
          </a:xfrm>
          <a:prstGeom prst="roundRect">
            <a:avLst>
              <a:gd name="adj" fmla="val 11111"/>
            </a:avLst>
          </a:prstGeom>
          <a:solidFill>
            <a:srgbClr val="64748B"/>
          </a:solidFill>
          <a:ln w="12700">
            <a:solidFill>
              <a:srgbClr val="64748B"/>
            </a:solidFill>
            <a:prstDash val="solid"/>
          </a:ln>
        </p:spPr>
      </p:sp>
      <p:sp>
        <p:nvSpPr>
          <p:cNvPr id="42" name="Text 40"/>
          <p:cNvSpPr txBox="1"/>
          <p:nvPr/>
        </p:nvSpPr>
        <p:spPr>
          <a:xfrm>
            <a:off x="10012680" y="4846320"/>
            <a:ext cx="137160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metrics-server</a:t>
            </a:r>
            <a:endParaRPr lang="en-US" sz="1200" dirty="0"/>
          </a:p>
          <a:p>
            <a:pPr algn="ctr" indent="0" marL="0">
              <a:buNone/>
            </a:pPr>
            <a:r>
              <a:rPr lang="en-US" sz="900" dirty="0">
                <a:solidFill>
                  <a:srgbClr val="FFFFFF"/>
                </a:solidFill>
                <a:latin typeface="Calibri" pitchFamily="34" charset="0"/>
                <a:ea typeface="Calibri" pitchFamily="34" charset="-122"/>
                <a:cs typeface="Calibri" pitchFamily="34" charset="-120"/>
              </a:rPr>
              <a:t>CPU → HPA</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Backend API &amp; automated tests</a:t>
            </a:r>
            <a:endParaRPr lang="en-US" sz="3200" dirty="0"/>
          </a:p>
        </p:txBody>
      </p:sp>
      <p:sp>
        <p:nvSpPr>
          <p:cNvPr id="3" name="Shape 1"/>
          <p:cNvSpPr/>
          <p:nvPr/>
        </p:nvSpPr>
        <p:spPr>
          <a:xfrm>
            <a:off x="548640" y="1234440"/>
            <a:ext cx="2514600" cy="1143000"/>
          </a:xfrm>
          <a:prstGeom prst="roundRect">
            <a:avLst>
              <a:gd name="adj" fmla="val 9600"/>
            </a:avLst>
          </a:prstGeom>
          <a:solidFill>
            <a:srgbClr val="E0F2F1"/>
          </a:solidFill>
          <a:ln w="12700">
            <a:solidFill>
              <a:srgbClr val="E0F2F1"/>
            </a:solidFill>
            <a:prstDash val="solid"/>
          </a:ln>
        </p:spPr>
      </p:sp>
      <p:sp>
        <p:nvSpPr>
          <p:cNvPr id="4" name="Text 2"/>
          <p:cNvSpPr txBox="1"/>
          <p:nvPr/>
        </p:nvSpPr>
        <p:spPr>
          <a:xfrm>
            <a:off x="731520" y="1325880"/>
            <a:ext cx="2148840" cy="59436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17</a:t>
            </a:r>
            <a:endParaRPr lang="en-US" sz="3400" dirty="0"/>
          </a:p>
        </p:txBody>
      </p:sp>
      <p:sp>
        <p:nvSpPr>
          <p:cNvPr id="5" name="Text 3"/>
          <p:cNvSpPr txBox="1"/>
          <p:nvPr/>
        </p:nvSpPr>
        <p:spPr>
          <a:xfrm>
            <a:off x="731520" y="1920240"/>
            <a:ext cx="214884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REST endpoints (FastAPI, Swagger at /docs)</a:t>
            </a:r>
            <a:endParaRPr lang="en-US" sz="1200" dirty="0"/>
          </a:p>
        </p:txBody>
      </p:sp>
      <p:sp>
        <p:nvSpPr>
          <p:cNvPr id="6" name="Shape 4"/>
          <p:cNvSpPr/>
          <p:nvPr/>
        </p:nvSpPr>
        <p:spPr>
          <a:xfrm>
            <a:off x="3246120" y="1234440"/>
            <a:ext cx="2148840" cy="1143000"/>
          </a:xfrm>
          <a:prstGeom prst="roundRect">
            <a:avLst>
              <a:gd name="adj" fmla="val 9600"/>
            </a:avLst>
          </a:prstGeom>
          <a:solidFill>
            <a:srgbClr val="E0F2F1"/>
          </a:solidFill>
          <a:ln w="12700">
            <a:solidFill>
              <a:srgbClr val="E0F2F1"/>
            </a:solidFill>
            <a:prstDash val="solid"/>
          </a:ln>
        </p:spPr>
      </p:sp>
      <p:sp>
        <p:nvSpPr>
          <p:cNvPr id="7" name="Text 5"/>
          <p:cNvSpPr txBox="1"/>
          <p:nvPr/>
        </p:nvSpPr>
        <p:spPr>
          <a:xfrm>
            <a:off x="3429000" y="1325880"/>
            <a:ext cx="1783080" cy="59436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26</a:t>
            </a:r>
            <a:endParaRPr lang="en-US" sz="3400" dirty="0"/>
          </a:p>
        </p:txBody>
      </p:sp>
      <p:sp>
        <p:nvSpPr>
          <p:cNvPr id="8" name="Text 6"/>
          <p:cNvSpPr txBox="1"/>
          <p:nvPr/>
        </p:nvSpPr>
        <p:spPr>
          <a:xfrm>
            <a:off x="3429000" y="1920240"/>
            <a:ext cx="17830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pytest tests, all passing</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4846320" cy="914400"/>
        </p:xfrm>
        <a:graphic>
          <a:graphicData uri="http://schemas.openxmlformats.org/drawingml/2006/table">
            <a:tbl>
              <a:tblPr/>
              <a:tblGrid>
                <a:gridCol w="2011680"/>
                <a:gridCol w="28346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F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exists</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F2A"/>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/health</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Liveness: is the process alive?</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/ready</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Readiness: can it reach the database?</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/metrics</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Prometheus request metrics</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/api/doctors, /patients</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CRUD with validation</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/api/appointments</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Booking + double-booking guard</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/api/stats, /activity</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Dashboard KPIs and feed</a:t>
                      </a:r>
                      <a:endParaRPr lang="en-US" sz="1300" dirty="0">
                        <a:latin typeface="Calibri" charset="0"/>
                        <a:ea typeface="Calibri" charset="0"/>
                        <a:cs typeface="Calibri" charset="0"/>
                      </a:endParaRPr>
                    </a:p>
                  </a:txBody>
                  <a:tcPr marL="54864" marR="54864" marT="54864" marB="54864">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bl>
          </a:graphicData>
        </a:graphic>
      </p:graphicFrame>
      <p:sp>
        <p:nvSpPr>
          <p:cNvPr id="10" name="Shape 7"/>
          <p:cNvSpPr/>
          <p:nvPr/>
        </p:nvSpPr>
        <p:spPr>
          <a:xfrm>
            <a:off x="5724144" y="1316484"/>
            <a:ext cx="5971032" cy="4636512"/>
          </a:xfrm>
          <a:prstGeom prst="rect">
            <a:avLst/>
          </a:prstGeom>
          <a:solidFill>
            <a:srgbClr val="FFFFFF"/>
          </a:solidFill>
          <a:ln w="9525">
            <a:solidFill>
              <a:srgbClr val="CBD5E1"/>
            </a:solidFill>
            <a:prstDash val="solid"/>
          </a:ln>
          <a:effectLst>
            <a:outerShdw sx="100000" sy="100000" kx="0" ky="0" algn="bl" rotWithShape="0" blurRad="101600" dist="38100" dir="5400000">
              <a:srgbClr val="000000">
                <a:alpha val="18000"/>
              </a:srgbClr>
            </a:outerShdw>
          </a:effectLst>
        </p:spPr>
      </p:sp>
      <p:pic>
        <p:nvPicPr>
          <p:cNvPr id="11" name="Image 0" descr="01_pytest_terminal.png">    </p:cNvPr>
          <p:cNvPicPr>
            <a:picLocks noChangeAspect="1"/>
          </p:cNvPicPr>
          <p:nvPr/>
        </p:nvPicPr>
        <p:blipFill>
          <a:blip r:embed="rId1"/>
          <a:stretch>
            <a:fillRect/>
          </a:stretch>
        </p:blipFill>
        <p:spPr>
          <a:xfrm>
            <a:off x="5760720" y="1353060"/>
            <a:ext cx="5897880" cy="4563360"/>
          </a:xfrm>
          <a:prstGeom prst="rect">
            <a:avLst/>
          </a:prstGeom>
        </p:spPr>
      </p:pic>
      <p:sp>
        <p:nvSpPr>
          <p:cNvPr id="12" name="Text 8"/>
          <p:cNvSpPr txBox="1"/>
          <p:nvPr/>
        </p:nvSpPr>
        <p:spPr>
          <a:xfrm>
            <a:off x="5760720" y="6080760"/>
            <a:ext cx="589788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pytest -v: the first quality gate. A failing test stops the pipeline before any image is pushed</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CI/CD pipeline with GitHub Actions</a:t>
            </a:r>
            <a:endParaRPr lang="en-US" sz="3200" dirty="0"/>
          </a:p>
        </p:txBody>
      </p:sp>
      <p:sp>
        <p:nvSpPr>
          <p:cNvPr id="3" name="Shape 1"/>
          <p:cNvSpPr/>
          <p:nvPr/>
        </p:nvSpPr>
        <p:spPr>
          <a:xfrm>
            <a:off x="548640" y="1234440"/>
            <a:ext cx="1828800" cy="868680"/>
          </a:xfrm>
          <a:prstGeom prst="chevron">
            <a:avLst/>
          </a:prstGeom>
          <a:solidFill>
            <a:srgbClr val="0F1F2A"/>
          </a:solidFill>
          <a:ln w="12700">
            <a:solidFill>
              <a:srgbClr val="FFFFFF"/>
            </a:solidFill>
            <a:prstDash val="solid"/>
          </a:ln>
        </p:spPr>
      </p:sp>
      <p:sp>
        <p:nvSpPr>
          <p:cNvPr id="4" name="Text 2"/>
          <p:cNvSpPr txBox="1"/>
          <p:nvPr/>
        </p:nvSpPr>
        <p:spPr>
          <a:xfrm>
            <a:off x="822960" y="123444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Push</a:t>
            </a:r>
            <a:endParaRPr lang="en-US" sz="1500" dirty="0"/>
          </a:p>
          <a:p>
            <a:pPr algn="ctr" indent="0" marL="0">
              <a:buNone/>
            </a:pPr>
            <a:r>
              <a:rPr lang="en-US" sz="1000" dirty="0">
                <a:solidFill>
                  <a:srgbClr val="FFFFFF"/>
                </a:solidFill>
                <a:latin typeface="Calibri" pitchFamily="34" charset="0"/>
                <a:ea typeface="Calibri" pitchFamily="34" charset="-122"/>
                <a:cs typeface="Calibri" pitchFamily="34" charset="-120"/>
              </a:rPr>
              <a:t>commit to main</a:t>
            </a:r>
            <a:endParaRPr lang="en-US" sz="1500" dirty="0"/>
          </a:p>
        </p:txBody>
      </p:sp>
      <p:sp>
        <p:nvSpPr>
          <p:cNvPr id="5" name="Shape 3"/>
          <p:cNvSpPr/>
          <p:nvPr/>
        </p:nvSpPr>
        <p:spPr>
          <a:xfrm>
            <a:off x="2423160" y="1234440"/>
            <a:ext cx="1828800" cy="868680"/>
          </a:xfrm>
          <a:prstGeom prst="chevron">
            <a:avLst/>
          </a:prstGeom>
          <a:solidFill>
            <a:srgbClr val="0F766E"/>
          </a:solidFill>
          <a:ln w="12700">
            <a:solidFill>
              <a:srgbClr val="FFFFFF"/>
            </a:solidFill>
            <a:prstDash val="solid"/>
          </a:ln>
        </p:spPr>
      </p:sp>
      <p:sp>
        <p:nvSpPr>
          <p:cNvPr id="6" name="Text 4"/>
          <p:cNvSpPr txBox="1"/>
          <p:nvPr/>
        </p:nvSpPr>
        <p:spPr>
          <a:xfrm>
            <a:off x="2697480" y="123444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p>
          <a:p>
            <a:pPr algn="ctr" indent="0" marL="0">
              <a:buNone/>
            </a:pPr>
            <a:r>
              <a:rPr lang="en-US" sz="1000" dirty="0">
                <a:solidFill>
                  <a:srgbClr val="FFFFFF"/>
                </a:solidFill>
                <a:latin typeface="Calibri" pitchFamily="34" charset="0"/>
                <a:ea typeface="Calibri" pitchFamily="34" charset="-122"/>
                <a:cs typeface="Calibri" pitchFamily="34" charset="-120"/>
              </a:rPr>
              <a:t>pytest + npm build</a:t>
            </a:r>
            <a:endParaRPr lang="en-US" sz="1500" dirty="0"/>
          </a:p>
        </p:txBody>
      </p:sp>
      <p:sp>
        <p:nvSpPr>
          <p:cNvPr id="7" name="Shape 5"/>
          <p:cNvSpPr/>
          <p:nvPr/>
        </p:nvSpPr>
        <p:spPr>
          <a:xfrm>
            <a:off x="4297680" y="1234440"/>
            <a:ext cx="1828800" cy="868680"/>
          </a:xfrm>
          <a:prstGeom prst="chevron">
            <a:avLst/>
          </a:prstGeom>
          <a:solidFill>
            <a:srgbClr val="0F1F2A"/>
          </a:solidFill>
          <a:ln w="12700">
            <a:solidFill>
              <a:srgbClr val="FFFFFF"/>
            </a:solidFill>
            <a:prstDash val="solid"/>
          </a:ln>
        </p:spPr>
      </p:sp>
      <p:sp>
        <p:nvSpPr>
          <p:cNvPr id="8" name="Text 6"/>
          <p:cNvSpPr txBox="1"/>
          <p:nvPr/>
        </p:nvSpPr>
        <p:spPr>
          <a:xfrm>
            <a:off x="4572000" y="123444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a:p>
            <a:pPr algn="ctr" indent="0" marL="0">
              <a:buNone/>
            </a:pPr>
            <a:r>
              <a:rPr lang="en-US" sz="1000" dirty="0">
                <a:solidFill>
                  <a:srgbClr val="FFFFFF"/>
                </a:solidFill>
                <a:latin typeface="Calibri" pitchFamily="34" charset="0"/>
                <a:ea typeface="Calibri" pitchFamily="34" charset="-122"/>
                <a:cs typeface="Calibri" pitchFamily="34" charset="-120"/>
              </a:rPr>
              <a:t>2 Docker images</a:t>
            </a:r>
            <a:endParaRPr lang="en-US" sz="1500" dirty="0"/>
          </a:p>
        </p:txBody>
      </p:sp>
      <p:sp>
        <p:nvSpPr>
          <p:cNvPr id="9" name="Shape 7"/>
          <p:cNvSpPr/>
          <p:nvPr/>
        </p:nvSpPr>
        <p:spPr>
          <a:xfrm>
            <a:off x="6172200" y="1234440"/>
            <a:ext cx="1828800" cy="868680"/>
          </a:xfrm>
          <a:prstGeom prst="chevron">
            <a:avLst/>
          </a:prstGeom>
          <a:solidFill>
            <a:srgbClr val="DC2626"/>
          </a:solidFill>
          <a:ln w="12700">
            <a:solidFill>
              <a:srgbClr val="FFFFFF"/>
            </a:solidFill>
            <a:prstDash val="solid"/>
          </a:ln>
        </p:spPr>
      </p:sp>
      <p:sp>
        <p:nvSpPr>
          <p:cNvPr id="10" name="Text 8"/>
          <p:cNvSpPr txBox="1"/>
          <p:nvPr/>
        </p:nvSpPr>
        <p:spPr>
          <a:xfrm>
            <a:off x="6446520" y="123444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Scan</a:t>
            </a:r>
            <a:endParaRPr lang="en-US" sz="1500" dirty="0"/>
          </a:p>
          <a:p>
            <a:pPr algn="ctr" indent="0" marL="0">
              <a:buNone/>
            </a:pPr>
            <a:r>
              <a:rPr lang="en-US" sz="1000" dirty="0">
                <a:solidFill>
                  <a:srgbClr val="FFFFFF"/>
                </a:solidFill>
                <a:latin typeface="Calibri" pitchFamily="34" charset="0"/>
                <a:ea typeface="Calibri" pitchFamily="34" charset="-122"/>
                <a:cs typeface="Calibri" pitchFamily="34" charset="-120"/>
              </a:rPr>
              <a:t>Trivy HIGH/CRITICAL</a:t>
            </a:r>
            <a:endParaRPr lang="en-US" sz="1500" dirty="0"/>
          </a:p>
        </p:txBody>
      </p:sp>
      <p:sp>
        <p:nvSpPr>
          <p:cNvPr id="11" name="Shape 9"/>
          <p:cNvSpPr/>
          <p:nvPr/>
        </p:nvSpPr>
        <p:spPr>
          <a:xfrm>
            <a:off x="8046720" y="1234440"/>
            <a:ext cx="1828800" cy="868680"/>
          </a:xfrm>
          <a:prstGeom prst="chevron">
            <a:avLst/>
          </a:prstGeom>
          <a:solidFill>
            <a:srgbClr val="0F1F2A"/>
          </a:solidFill>
          <a:ln w="12700">
            <a:solidFill>
              <a:srgbClr val="FFFFFF"/>
            </a:solidFill>
            <a:prstDash val="solid"/>
          </a:ln>
        </p:spPr>
      </p:sp>
      <p:sp>
        <p:nvSpPr>
          <p:cNvPr id="12" name="Text 10"/>
          <p:cNvSpPr txBox="1"/>
          <p:nvPr/>
        </p:nvSpPr>
        <p:spPr>
          <a:xfrm>
            <a:off x="8321040" y="123444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Publish</a:t>
            </a:r>
            <a:endParaRPr lang="en-US" sz="1500" dirty="0"/>
          </a:p>
          <a:p>
            <a:pPr algn="ctr" indent="0" marL="0">
              <a:buNone/>
            </a:pPr>
            <a:r>
              <a:rPr lang="en-US" sz="1000" dirty="0">
                <a:solidFill>
                  <a:srgbClr val="FFFFFF"/>
                </a:solidFill>
                <a:latin typeface="Calibri" pitchFamily="34" charset="0"/>
                <a:ea typeface="Calibri" pitchFamily="34" charset="-122"/>
                <a:cs typeface="Calibri" pitchFamily="34" charset="-120"/>
              </a:rPr>
              <a:t>GHCR, tag = git SHA</a:t>
            </a:r>
            <a:endParaRPr lang="en-US" sz="1500" dirty="0"/>
          </a:p>
        </p:txBody>
      </p:sp>
      <p:sp>
        <p:nvSpPr>
          <p:cNvPr id="13" name="Shape 11"/>
          <p:cNvSpPr/>
          <p:nvPr/>
        </p:nvSpPr>
        <p:spPr>
          <a:xfrm>
            <a:off x="9921240" y="1234440"/>
            <a:ext cx="1828800" cy="868680"/>
          </a:xfrm>
          <a:prstGeom prst="chevron">
            <a:avLst/>
          </a:prstGeom>
          <a:solidFill>
            <a:srgbClr val="0F766E"/>
          </a:solidFill>
          <a:ln w="12700">
            <a:solidFill>
              <a:srgbClr val="FFFFFF"/>
            </a:solidFill>
            <a:prstDash val="solid"/>
          </a:ln>
        </p:spPr>
      </p:sp>
      <p:sp>
        <p:nvSpPr>
          <p:cNvPr id="14" name="Text 12"/>
          <p:cNvSpPr txBox="1"/>
          <p:nvPr/>
        </p:nvSpPr>
        <p:spPr>
          <a:xfrm>
            <a:off x="10195560" y="123444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Deploy</a:t>
            </a:r>
            <a:endParaRPr lang="en-US" sz="1500" dirty="0"/>
          </a:p>
          <a:p>
            <a:pPr algn="ctr" indent="0" marL="0">
              <a:buNone/>
            </a:pPr>
            <a:r>
              <a:rPr lang="en-US" sz="1000" dirty="0">
                <a:solidFill>
                  <a:srgbClr val="FFFFFF"/>
                </a:solidFill>
                <a:latin typeface="Calibri" pitchFamily="34" charset="0"/>
                <a:ea typeface="Calibri" pitchFamily="34" charset="-122"/>
                <a:cs typeface="Calibri" pitchFamily="34" charset="-120"/>
              </a:rPr>
              <a:t>helm upgrade</a:t>
            </a:r>
            <a:endParaRPr lang="en-US" sz="1500" dirty="0"/>
          </a:p>
        </p:txBody>
      </p:sp>
      <p:sp>
        <p:nvSpPr>
          <p:cNvPr id="15" name="Shape 13"/>
          <p:cNvSpPr/>
          <p:nvPr/>
        </p:nvSpPr>
        <p:spPr>
          <a:xfrm>
            <a:off x="512064" y="2340864"/>
            <a:ext cx="6575552" cy="3730752"/>
          </a:xfrm>
          <a:prstGeom prst="rect">
            <a:avLst/>
          </a:prstGeom>
          <a:solidFill>
            <a:srgbClr val="FFFFFF"/>
          </a:solidFill>
          <a:ln w="9525">
            <a:solidFill>
              <a:srgbClr val="CBD5E1"/>
            </a:solidFill>
            <a:prstDash val="solid"/>
          </a:ln>
          <a:effectLst>
            <a:outerShdw sx="100000" sy="100000" kx="0" ky="0" algn="bl" rotWithShape="0" blurRad="101600" dist="38100" dir="5400000">
              <a:srgbClr val="000000">
                <a:alpha val="18000"/>
              </a:srgbClr>
            </a:outerShdw>
          </a:effectLst>
        </p:spPr>
      </p:sp>
      <p:pic>
        <p:nvPicPr>
          <p:cNvPr id="16" name="Image 0" descr="07_github_actions_pipeline.png">    </p:cNvPr>
          <p:cNvPicPr>
            <a:picLocks noChangeAspect="1"/>
          </p:cNvPicPr>
          <p:nvPr/>
        </p:nvPicPr>
        <p:blipFill>
          <a:blip r:embed="rId1"/>
          <a:stretch>
            <a:fillRect/>
          </a:stretch>
        </p:blipFill>
        <p:spPr>
          <a:xfrm>
            <a:off x="548640" y="2377440"/>
            <a:ext cx="6502400" cy="3657600"/>
          </a:xfrm>
          <a:prstGeom prst="rect">
            <a:avLst/>
          </a:prstGeom>
        </p:spPr>
      </p:pic>
      <p:sp>
        <p:nvSpPr>
          <p:cNvPr id="17" name="Text 14"/>
          <p:cNvSpPr txBox="1"/>
          <p:nvPr/>
        </p:nvSpPr>
        <p:spPr>
          <a:xfrm>
            <a:off x="548640" y="6080760"/>
            <a:ext cx="694944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 real green run: Test → Build, scan &amp; push (backend, frontend)</a:t>
            </a:r>
            <a:endParaRPr lang="en-US" sz="1100" dirty="0"/>
          </a:p>
        </p:txBody>
      </p:sp>
      <p:sp>
        <p:nvSpPr>
          <p:cNvPr id="18" name="Text 15"/>
          <p:cNvSpPr txBox="1"/>
          <p:nvPr/>
        </p:nvSpPr>
        <p:spPr>
          <a:xfrm>
            <a:off x="7863840" y="2377440"/>
            <a:ext cx="3794760" cy="3657600"/>
          </a:xfrm>
          <a:prstGeom prst="rect">
            <a:avLst/>
          </a:prstGeom>
          <a:noFill/>
          <a:ln/>
        </p:spPr>
        <p:txBody>
          <a:bodyPr wrap="square" lIns="0" tIns="0" rIns="0" bIns="0" rtlCol="0" anchor="t"/>
          <a:lstStyle/>
          <a:p>
            <a:pPr indent="0" marL="0">
              <a:buNone/>
            </a:pPr>
            <a:r>
              <a:rPr lang="en-US" sz="1800" b="1" dirty="0">
                <a:solidFill>
                  <a:srgbClr val="0F1F2A"/>
                </a:solidFill>
                <a:latin typeface="Calibri" pitchFamily="34" charset="0"/>
                <a:ea typeface="Calibri" pitchFamily="34" charset="-122"/>
                <a:cs typeface="Calibri" pitchFamily="34" charset="-120"/>
              </a:rPr>
              <a:t>Quality gates</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Each stage needs the previous one, so broken or vulnerable code never reaches the registry.</a:t>
            </a:r>
            <a:endParaRPr lang="en-US" sz="1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0F1F2A"/>
                </a:solidFill>
                <a:latin typeface="Calibri" pitchFamily="34" charset="0"/>
                <a:ea typeface="Calibri" pitchFamily="34" charset="-122"/>
                <a:cs typeface="Calibri" pitchFamily="34" charset="-120"/>
              </a:rPr>
              <a:t>Traceability</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Images are tagged with the commit SHA: commit A → image A. The running build shows its SHA in the app's sidebar.</a:t>
            </a:r>
            <a:endParaRPr lang="en-US" sz="1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0F1F2A"/>
                </a:solidFill>
                <a:latin typeface="Calibri" pitchFamily="34" charset="0"/>
                <a:ea typeface="Calibri" pitchFamily="34" charset="-122"/>
                <a:cs typeface="Calibri" pitchFamily="34" charset="-120"/>
              </a:rPr>
              <a:t>Deploy</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EKS via OIDC (no stored AWS keys) or the local kind cluster via a self-hosted runner.</a:t>
            </a:r>
            <a:endParaRPr lang="en-US" sz="18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Docker images &amp; Trivy security scan</a:t>
            </a:r>
            <a:endParaRPr lang="en-US" sz="3200" dirty="0"/>
          </a:p>
        </p:txBody>
      </p:sp>
      <p:sp>
        <p:nvSpPr>
          <p:cNvPr id="3" name="Shape 1"/>
          <p:cNvSpPr/>
          <p:nvPr/>
        </p:nvSpPr>
        <p:spPr>
          <a:xfrm>
            <a:off x="548640" y="1234440"/>
            <a:ext cx="2743200" cy="2377440"/>
          </a:xfrm>
          <a:prstGeom prst="roundRect">
            <a:avLst>
              <a:gd name="adj" fmla="val 4615"/>
            </a:avLst>
          </a:prstGeom>
          <a:solidFill>
            <a:srgbClr val="E0F2F1"/>
          </a:solidFill>
          <a:ln w="12700">
            <a:solidFill>
              <a:srgbClr val="E0F2F1"/>
            </a:solidFill>
            <a:prstDash val="solid"/>
          </a:ln>
        </p:spPr>
      </p:sp>
      <p:sp>
        <p:nvSpPr>
          <p:cNvPr id="4" name="Text 2"/>
          <p:cNvSpPr txBox="1"/>
          <p:nvPr/>
        </p:nvSpPr>
        <p:spPr>
          <a:xfrm>
            <a:off x="777240" y="1371600"/>
            <a:ext cx="2286000" cy="411480"/>
          </a:xfrm>
          <a:prstGeom prst="rect">
            <a:avLst/>
          </a:prstGeom>
          <a:noFill/>
          <a:ln/>
        </p:spPr>
        <p:txBody>
          <a:bodyPr wrap="square" lIns="0" tIns="0" rIns="0" bIns="0" rtlCol="0" anchor="ctr"/>
          <a:lstStyle/>
          <a:p>
            <a:pPr indent="0" marL="0">
              <a:buNone/>
            </a:pPr>
            <a:r>
              <a:rPr lang="en-US" sz="1800" b="1" dirty="0">
                <a:solidFill>
                  <a:srgbClr val="0F1F2A"/>
                </a:solidFill>
                <a:latin typeface="Cambria" pitchFamily="34" charset="0"/>
                <a:ea typeface="Cambria" pitchFamily="34" charset="-122"/>
                <a:cs typeface="Cambria" pitchFamily="34" charset="-120"/>
              </a:rPr>
              <a:t>Backend image</a:t>
            </a:r>
            <a:endParaRPr lang="en-US" sz="1800" dirty="0"/>
          </a:p>
        </p:txBody>
      </p:sp>
      <p:sp>
        <p:nvSpPr>
          <p:cNvPr id="5" name="Text 3"/>
          <p:cNvSpPr txBox="1"/>
          <p:nvPr/>
        </p:nvSpPr>
        <p:spPr>
          <a:xfrm>
            <a:off x="777240" y="1828800"/>
            <a:ext cx="2377440" cy="2057400"/>
          </a:xfrm>
          <a:prstGeom prst="rect">
            <a:avLst/>
          </a:prstGeom>
          <a:noFill/>
          <a:ln/>
        </p:spPr>
        <p:txBody>
          <a:bodyPr wrap="square" lIns="0" tIns="0" rIns="0" bIns="0" rtlCol="0" anchor="t"/>
          <a:lstStyle/>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python:3.12-slim</a:t>
            </a:r>
            <a:endParaRPr lang="en-US" sz="1300" dirty="0"/>
          </a:p>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Runs as non-root (uid 10001)</a:t>
            </a:r>
            <a:endParaRPr lang="en-US" sz="1300" dirty="0"/>
          </a:p>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Alembic migrations on start</a:t>
            </a:r>
            <a:endParaRPr lang="en-US" sz="1300" dirty="0"/>
          </a:p>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pip removed from runtime</a:t>
            </a:r>
            <a:endParaRPr lang="en-US" sz="1300" dirty="0"/>
          </a:p>
        </p:txBody>
      </p:sp>
      <p:sp>
        <p:nvSpPr>
          <p:cNvPr id="6" name="Shape 4"/>
          <p:cNvSpPr/>
          <p:nvPr/>
        </p:nvSpPr>
        <p:spPr>
          <a:xfrm>
            <a:off x="3474720" y="1234440"/>
            <a:ext cx="2743200" cy="2377440"/>
          </a:xfrm>
          <a:prstGeom prst="roundRect">
            <a:avLst>
              <a:gd name="adj" fmla="val 4615"/>
            </a:avLst>
          </a:prstGeom>
          <a:solidFill>
            <a:srgbClr val="E0F2F1"/>
          </a:solidFill>
          <a:ln w="12700">
            <a:solidFill>
              <a:srgbClr val="E0F2F1"/>
            </a:solidFill>
            <a:prstDash val="solid"/>
          </a:ln>
        </p:spPr>
      </p:sp>
      <p:sp>
        <p:nvSpPr>
          <p:cNvPr id="7" name="Text 5"/>
          <p:cNvSpPr txBox="1"/>
          <p:nvPr/>
        </p:nvSpPr>
        <p:spPr>
          <a:xfrm>
            <a:off x="3703320" y="1371600"/>
            <a:ext cx="2286000" cy="411480"/>
          </a:xfrm>
          <a:prstGeom prst="rect">
            <a:avLst/>
          </a:prstGeom>
          <a:noFill/>
          <a:ln/>
        </p:spPr>
        <p:txBody>
          <a:bodyPr wrap="square" lIns="0" tIns="0" rIns="0" bIns="0" rtlCol="0" anchor="ctr"/>
          <a:lstStyle/>
          <a:p>
            <a:pPr indent="0" marL="0">
              <a:buNone/>
            </a:pPr>
            <a:r>
              <a:rPr lang="en-US" sz="1800" b="1" dirty="0">
                <a:solidFill>
                  <a:srgbClr val="0F1F2A"/>
                </a:solidFill>
                <a:latin typeface="Cambria" pitchFamily="34" charset="0"/>
                <a:ea typeface="Cambria" pitchFamily="34" charset="-122"/>
                <a:cs typeface="Cambria" pitchFamily="34" charset="-120"/>
              </a:rPr>
              <a:t>Frontend image</a:t>
            </a:r>
            <a:endParaRPr lang="en-US" sz="1800" dirty="0"/>
          </a:p>
        </p:txBody>
      </p:sp>
      <p:sp>
        <p:nvSpPr>
          <p:cNvPr id="8" name="Text 6"/>
          <p:cNvSpPr txBox="1"/>
          <p:nvPr/>
        </p:nvSpPr>
        <p:spPr>
          <a:xfrm>
            <a:off x="3703320" y="1828800"/>
            <a:ext cx="2377440" cy="2057400"/>
          </a:xfrm>
          <a:prstGeom prst="rect">
            <a:avLst/>
          </a:prstGeom>
          <a:noFill/>
          <a:ln/>
        </p:spPr>
        <p:txBody>
          <a:bodyPr wrap="square" lIns="0" tIns="0" rIns="0" bIns="0" rtlCol="0" anchor="t"/>
          <a:lstStyle/>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Multi-stage: Node → npm build</a:t>
            </a:r>
            <a:endParaRPr lang="en-US" sz="1300" dirty="0"/>
          </a:p>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Served by nginx-unprivileged</a:t>
            </a:r>
            <a:endParaRPr lang="en-US" sz="1300" dirty="0"/>
          </a:p>
          <a:p>
            <a:pPr marL="190500" indent="-1905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No build tools in the final image</a:t>
            </a:r>
            <a:endParaRPr lang="en-US" sz="1300" dirty="0"/>
          </a:p>
        </p:txBody>
      </p:sp>
      <p:sp>
        <p:nvSpPr>
          <p:cNvPr id="9" name="Shape 7"/>
          <p:cNvSpPr/>
          <p:nvPr/>
        </p:nvSpPr>
        <p:spPr>
          <a:xfrm>
            <a:off x="548640" y="3886200"/>
            <a:ext cx="5669280" cy="1783080"/>
          </a:xfrm>
          <a:prstGeom prst="roundRect">
            <a:avLst>
              <a:gd name="adj" fmla="val 6154"/>
            </a:avLst>
          </a:prstGeom>
          <a:solidFill>
            <a:srgbClr val="FEF2F2"/>
          </a:solidFill>
          <a:ln w="12700">
            <a:solidFill>
              <a:srgbClr val="FECACA"/>
            </a:solidFill>
            <a:prstDash val="solid"/>
          </a:ln>
        </p:spPr>
      </p:sp>
      <p:sp>
        <p:nvSpPr>
          <p:cNvPr id="10" name="Text 8"/>
          <p:cNvSpPr txBox="1"/>
          <p:nvPr/>
        </p:nvSpPr>
        <p:spPr>
          <a:xfrm>
            <a:off x="777240" y="4069080"/>
            <a:ext cx="5257800" cy="1828800"/>
          </a:xfrm>
          <a:prstGeom prst="rect">
            <a:avLst/>
          </a:prstGeom>
          <a:noFill/>
          <a:ln/>
        </p:spPr>
        <p:txBody>
          <a:bodyPr wrap="square" lIns="0" tIns="0" rIns="0" bIns="0" rtlCol="0" anchor="t"/>
          <a:lstStyle/>
          <a:p>
            <a:pPr indent="0" marL="0">
              <a:buNone/>
            </a:pPr>
            <a:r>
              <a:rPr lang="en-US" sz="1800" b="1" dirty="0">
                <a:solidFill>
                  <a:srgbClr val="DC2626"/>
                </a:solidFill>
                <a:latin typeface="Calibri" pitchFamily="34" charset="0"/>
                <a:ea typeface="Calibri" pitchFamily="34" charset="-122"/>
                <a:cs typeface="Calibri" pitchFamily="34" charset="-120"/>
              </a:rPr>
              <a:t>Trivy found 4 HIGH CVEs, then the fix</a:t>
            </a:r>
            <a:endParaRPr lang="en-US" sz="1800" dirty="0"/>
          </a:p>
          <a:p>
            <a:pPr indent="0" marL="0">
              <a:buNone/>
            </a:pPr>
            <a:r>
              <a:rPr lang="en-US" sz="1500" dirty="0">
                <a:solidFill>
                  <a:srgbClr val="1E293B"/>
                </a:solidFill>
                <a:latin typeface="Calibri" pitchFamily="34" charset="0"/>
                <a:ea typeface="Calibri" pitchFamily="34" charset="-122"/>
                <a:cs typeface="Calibri" pitchFamily="34" charset="-120"/>
              </a:rPr>
              <a:t>First scan flagged vulnerable pip/setuptools wheels bundled in the Python base image. Removing pip after install made both scans clean. The job fails on any fixable HIGH or CRITICAL.</a:t>
            </a:r>
            <a:endParaRPr lang="en-US" sz="1800" dirty="0"/>
          </a:p>
        </p:txBody>
      </p:sp>
      <p:sp>
        <p:nvSpPr>
          <p:cNvPr id="11" name="Shape 9"/>
          <p:cNvSpPr/>
          <p:nvPr/>
        </p:nvSpPr>
        <p:spPr>
          <a:xfrm>
            <a:off x="6501384" y="2157984"/>
            <a:ext cx="5193792" cy="2953512"/>
          </a:xfrm>
          <a:prstGeom prst="rect">
            <a:avLst/>
          </a:prstGeom>
          <a:solidFill>
            <a:srgbClr val="FFFFFF"/>
          </a:solidFill>
          <a:ln w="9525">
            <a:solidFill>
              <a:srgbClr val="CBD5E1"/>
            </a:solidFill>
            <a:prstDash val="solid"/>
          </a:ln>
          <a:effectLst>
            <a:outerShdw sx="100000" sy="100000" kx="0" ky="0" algn="bl" rotWithShape="0" blurRad="101600" dist="38100" dir="5400000">
              <a:srgbClr val="000000">
                <a:alpha val="18000"/>
              </a:srgbClr>
            </a:outerShdw>
          </a:effectLst>
        </p:spPr>
      </p:sp>
      <p:pic>
        <p:nvPicPr>
          <p:cNvPr id="12" name="Image 0" descr="08_b_package_sha_tags.png">    </p:cNvPr>
          <p:cNvPicPr>
            <a:picLocks noChangeAspect="1"/>
          </p:cNvPicPr>
          <p:nvPr/>
        </p:nvPicPr>
        <p:blipFill>
          <a:blip r:embed="rId1"/>
          <a:stretch>
            <a:fillRect/>
          </a:stretch>
        </p:blipFill>
        <p:spPr>
          <a:xfrm>
            <a:off x="6537960" y="2194560"/>
            <a:ext cx="5120640" cy="2880360"/>
          </a:xfrm>
          <a:prstGeom prst="rect">
            <a:avLst/>
          </a:prstGeom>
        </p:spPr>
      </p:pic>
      <p:sp>
        <p:nvSpPr>
          <p:cNvPr id="13" name="Text 10"/>
          <p:cNvSpPr txBox="1"/>
          <p:nvPr/>
        </p:nvSpPr>
        <p:spPr>
          <a:xfrm>
            <a:off x="6537960" y="6080760"/>
            <a:ext cx="512064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GHCR: every version tagged with its commit SHA</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Infrastructure as Code with Terraform</a:t>
            </a:r>
            <a:endParaRPr lang="en-US" sz="3200" dirty="0"/>
          </a:p>
        </p:txBody>
      </p:sp>
      <p:sp>
        <p:nvSpPr>
          <p:cNvPr id="3" name="Shape 1"/>
          <p:cNvSpPr/>
          <p:nvPr/>
        </p:nvSpPr>
        <p:spPr>
          <a:xfrm>
            <a:off x="548640" y="1234440"/>
            <a:ext cx="6766560" cy="4800600"/>
          </a:xfrm>
          <a:prstGeom prst="roundRect">
            <a:avLst>
              <a:gd name="adj" fmla="val 2286"/>
            </a:avLst>
          </a:prstGeom>
          <a:solidFill>
            <a:srgbClr val="FFF7ED"/>
          </a:solidFill>
          <a:ln w="12700">
            <a:solidFill>
              <a:srgbClr val="FDBA74"/>
            </a:solidFill>
            <a:prstDash val="dash"/>
          </a:ln>
        </p:spPr>
      </p:sp>
      <p:sp>
        <p:nvSpPr>
          <p:cNvPr id="4" name="Text 2"/>
          <p:cNvSpPr txBox="1"/>
          <p:nvPr/>
        </p:nvSpPr>
        <p:spPr>
          <a:xfrm>
            <a:off x="777240" y="1325880"/>
            <a:ext cx="4572000" cy="320040"/>
          </a:xfrm>
          <a:prstGeom prst="rect">
            <a:avLst/>
          </a:prstGeom>
          <a:noFill/>
          <a:ln/>
        </p:spPr>
        <p:txBody>
          <a:bodyPr wrap="square" lIns="0" tIns="0" rIns="0" bIns="0" rtlCol="0" anchor="ctr"/>
          <a:lstStyle/>
          <a:p>
            <a:pPr indent="0" marL="0">
              <a:buNone/>
            </a:pPr>
            <a:r>
              <a:rPr lang="en-US" sz="1300" b="1" dirty="0">
                <a:solidFill>
                  <a:srgbClr val="C2410C"/>
                </a:solidFill>
                <a:latin typeface="Calibri" pitchFamily="34" charset="0"/>
                <a:ea typeface="Calibri" pitchFamily="34" charset="-122"/>
                <a:cs typeface="Calibri" pitchFamily="34" charset="-120"/>
              </a:rPr>
              <a:t>AWS  ·  ap-south-1 (Mumbai)</a:t>
            </a:r>
            <a:endParaRPr lang="en-US" sz="1300" dirty="0"/>
          </a:p>
        </p:txBody>
      </p:sp>
      <p:sp>
        <p:nvSpPr>
          <p:cNvPr id="5" name="Shape 3"/>
          <p:cNvSpPr/>
          <p:nvPr/>
        </p:nvSpPr>
        <p:spPr>
          <a:xfrm>
            <a:off x="777240" y="1737360"/>
            <a:ext cx="6309360" cy="4114800"/>
          </a:xfrm>
          <a:prstGeom prst="roundRect">
            <a:avLst>
              <a:gd name="adj" fmla="val 2222"/>
            </a:avLst>
          </a:prstGeom>
          <a:solidFill>
            <a:srgbClr val="FFFFFF"/>
          </a:solidFill>
          <a:ln w="12700">
            <a:solidFill>
              <a:srgbClr val="CBD5E1"/>
            </a:solidFill>
            <a:prstDash val="solid"/>
          </a:ln>
        </p:spPr>
      </p:sp>
      <p:sp>
        <p:nvSpPr>
          <p:cNvPr id="6" name="Text 4"/>
          <p:cNvSpPr txBox="1"/>
          <p:nvPr/>
        </p:nvSpPr>
        <p:spPr>
          <a:xfrm>
            <a:off x="960120" y="1828800"/>
            <a:ext cx="36576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VPC  10.0.0.0/16</a:t>
            </a:r>
            <a:endParaRPr lang="en-US" sz="1300" dirty="0"/>
          </a:p>
        </p:txBody>
      </p:sp>
      <p:sp>
        <p:nvSpPr>
          <p:cNvPr id="7" name="Shape 5"/>
          <p:cNvSpPr/>
          <p:nvPr/>
        </p:nvSpPr>
        <p:spPr>
          <a:xfrm>
            <a:off x="1005840" y="2286000"/>
            <a:ext cx="2834640" cy="1188720"/>
          </a:xfrm>
          <a:prstGeom prst="roundRect">
            <a:avLst>
              <a:gd name="adj" fmla="val 7692"/>
            </a:avLst>
          </a:prstGeom>
          <a:solidFill>
            <a:srgbClr val="0E7490"/>
          </a:solidFill>
          <a:ln w="12700">
            <a:solidFill>
              <a:srgbClr val="0E7490"/>
            </a:solidFill>
            <a:prstDash val="solid"/>
          </a:ln>
        </p:spPr>
      </p:sp>
      <p:sp>
        <p:nvSpPr>
          <p:cNvPr id="8" name="Text 6"/>
          <p:cNvSpPr txBox="1"/>
          <p:nvPr/>
        </p:nvSpPr>
        <p:spPr>
          <a:xfrm>
            <a:off x="1005840" y="2286000"/>
            <a:ext cx="2834640" cy="11887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Public subnets ×2</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NAT gateway · load balancer</a:t>
            </a:r>
            <a:endParaRPr lang="en-US" sz="1400" dirty="0"/>
          </a:p>
        </p:txBody>
      </p:sp>
      <p:sp>
        <p:nvSpPr>
          <p:cNvPr id="9" name="Shape 7"/>
          <p:cNvSpPr/>
          <p:nvPr/>
        </p:nvSpPr>
        <p:spPr>
          <a:xfrm>
            <a:off x="4023360" y="2286000"/>
            <a:ext cx="2834640" cy="1188720"/>
          </a:xfrm>
          <a:prstGeom prst="roundRect">
            <a:avLst>
              <a:gd name="adj" fmla="val 7692"/>
            </a:avLst>
          </a:prstGeom>
          <a:solidFill>
            <a:srgbClr val="334155"/>
          </a:solidFill>
          <a:ln w="12700">
            <a:solidFill>
              <a:srgbClr val="334155"/>
            </a:solidFill>
            <a:prstDash val="solid"/>
          </a:ln>
        </p:spPr>
      </p:sp>
      <p:sp>
        <p:nvSpPr>
          <p:cNvPr id="10" name="Text 8"/>
          <p:cNvSpPr txBox="1"/>
          <p:nvPr/>
        </p:nvSpPr>
        <p:spPr>
          <a:xfrm>
            <a:off x="4023360" y="2286000"/>
            <a:ext cx="2834640" cy="118872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Private subnets ×2</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no direct internet access</a:t>
            </a:r>
            <a:endParaRPr lang="en-US" sz="1400" dirty="0"/>
          </a:p>
        </p:txBody>
      </p:sp>
      <p:sp>
        <p:nvSpPr>
          <p:cNvPr id="11" name="Shape 9"/>
          <p:cNvSpPr/>
          <p:nvPr/>
        </p:nvSpPr>
        <p:spPr>
          <a:xfrm>
            <a:off x="1005840" y="3794760"/>
            <a:ext cx="5852160" cy="777240"/>
          </a:xfrm>
          <a:prstGeom prst="roundRect">
            <a:avLst>
              <a:gd name="adj" fmla="val 11765"/>
            </a:avLst>
          </a:prstGeom>
          <a:solidFill>
            <a:srgbClr val="0F766E"/>
          </a:solidFill>
          <a:ln w="12700">
            <a:solidFill>
              <a:srgbClr val="0F766E"/>
            </a:solidFill>
            <a:prstDash val="solid"/>
          </a:ln>
        </p:spPr>
      </p:sp>
      <p:sp>
        <p:nvSpPr>
          <p:cNvPr id="12" name="Text 10"/>
          <p:cNvSpPr txBox="1"/>
          <p:nvPr/>
        </p:nvSpPr>
        <p:spPr>
          <a:xfrm>
            <a:off x="1005840" y="3794760"/>
            <a:ext cx="5852160" cy="777240"/>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EKS cluster</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managed control plane · IRSA · EBS CSI driver</a:t>
            </a:r>
            <a:endParaRPr lang="en-US" sz="1500" dirty="0"/>
          </a:p>
        </p:txBody>
      </p:sp>
      <p:sp>
        <p:nvSpPr>
          <p:cNvPr id="13" name="Shape 11"/>
          <p:cNvSpPr/>
          <p:nvPr/>
        </p:nvSpPr>
        <p:spPr>
          <a:xfrm>
            <a:off x="1005840" y="4800600"/>
            <a:ext cx="5852160" cy="777240"/>
          </a:xfrm>
          <a:prstGeom prst="roundRect">
            <a:avLst>
              <a:gd name="adj" fmla="val 11765"/>
            </a:avLst>
          </a:prstGeom>
          <a:solidFill>
            <a:srgbClr val="0F1F2A"/>
          </a:solidFill>
          <a:ln w="12700">
            <a:solidFill>
              <a:srgbClr val="0F1F2A"/>
            </a:solidFill>
            <a:prstDash val="solid"/>
          </a:ln>
        </p:spPr>
      </p:sp>
      <p:sp>
        <p:nvSpPr>
          <p:cNvPr id="14" name="Text 12"/>
          <p:cNvSpPr txBox="1"/>
          <p:nvPr/>
        </p:nvSpPr>
        <p:spPr>
          <a:xfrm>
            <a:off x="1005840" y="4800600"/>
            <a:ext cx="5852160" cy="777240"/>
          </a:xfrm>
          <a:prstGeom prst="rect">
            <a:avLst/>
          </a:prstGeom>
          <a:no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Managed node group</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worker nodes in private subnets</a:t>
            </a:r>
            <a:endParaRPr lang="en-US" sz="1500" dirty="0"/>
          </a:p>
        </p:txBody>
      </p:sp>
      <p:sp>
        <p:nvSpPr>
          <p:cNvPr id="15" name="Text 13"/>
          <p:cNvSpPr txBox="1"/>
          <p:nvPr/>
        </p:nvSpPr>
        <p:spPr>
          <a:xfrm>
            <a:off x="7680960" y="1234440"/>
            <a:ext cx="3977640" cy="2194560"/>
          </a:xfrm>
          <a:prstGeom prst="rect">
            <a:avLst/>
          </a:prstGeom>
          <a:noFill/>
          <a:ln/>
        </p:spPr>
        <p:txBody>
          <a:bodyPr wrap="square" lIns="0" tIns="0" rIns="0" bIns="0" rtlCol="0" anchor="t"/>
          <a:lstStyle/>
          <a:p>
            <a:pPr indent="0" marL="0">
              <a:buNone/>
            </a:pPr>
            <a:r>
              <a:rPr lang="en-US" sz="1800" b="1" dirty="0">
                <a:solidFill>
                  <a:srgbClr val="0F1F2A"/>
                </a:solidFill>
                <a:latin typeface="Calibri" pitchFamily="34" charset="0"/>
                <a:ea typeface="Calibri" pitchFamily="34" charset="-122"/>
                <a:cs typeface="Calibri" pitchFamily="34" charset="-120"/>
              </a:rPr>
              <a:t>Why Terraform</a:t>
            </a:r>
            <a:endParaRPr lang="en-US" sz="1800" dirty="0"/>
          </a:p>
          <a:p>
            <a:pPr indent="0" marL="0">
              <a:buNone/>
            </a:pPr>
            <a:r>
              <a:rPr lang="en-US" sz="1400" dirty="0">
                <a:solidFill>
                  <a:srgbClr val="1E293B"/>
                </a:solidFill>
                <a:latin typeface="Calibri" pitchFamily="34" charset="0"/>
                <a:ea typeface="Calibri" pitchFamily="34" charset="-122"/>
                <a:cs typeface="Calibri" pitchFamily="34" charset="-120"/>
              </a:rPr>
              <a:t>Infrastructure is described in code and reviewed like code, instead of clicking through the AWS console.</a:t>
            </a:r>
            <a:endParaRPr lang="en-US" sz="1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800" b="1" dirty="0">
                <a:solidFill>
                  <a:srgbClr val="0F1F2A"/>
                </a:solidFill>
                <a:latin typeface="Calibri" pitchFamily="34" charset="0"/>
                <a:ea typeface="Calibri" pitchFamily="34" charset="-122"/>
                <a:cs typeface="Calibri" pitchFamily="34" charset="-120"/>
              </a:rPr>
              <a:t>Workflow</a:t>
            </a:r>
            <a:endParaRPr lang="en-US" sz="1800" dirty="0"/>
          </a:p>
        </p:txBody>
      </p:sp>
      <p:sp>
        <p:nvSpPr>
          <p:cNvPr id="16" name="Shape 14"/>
          <p:cNvSpPr/>
          <p:nvPr/>
        </p:nvSpPr>
        <p:spPr>
          <a:xfrm>
            <a:off x="7680960" y="2606040"/>
            <a:ext cx="3977640" cy="1463040"/>
          </a:xfrm>
          <a:prstGeom prst="roundRect">
            <a:avLst>
              <a:gd name="adj" fmla="val 6250"/>
            </a:avLst>
          </a:prstGeom>
          <a:solidFill>
            <a:srgbClr val="0F1F2A"/>
          </a:solidFill>
          <a:ln w="12700">
            <a:solidFill>
              <a:srgbClr val="0F1F2A"/>
            </a:solidFill>
            <a:prstDash val="solid"/>
          </a:ln>
        </p:spPr>
      </p:sp>
      <p:sp>
        <p:nvSpPr>
          <p:cNvPr id="17" name="Text 15"/>
          <p:cNvSpPr txBox="1"/>
          <p:nvPr/>
        </p:nvSpPr>
        <p:spPr>
          <a:xfrm>
            <a:off x="7909560" y="2697480"/>
            <a:ext cx="3566160" cy="1280160"/>
          </a:xfrm>
          <a:prstGeom prst="rect">
            <a:avLst/>
          </a:prstGeom>
          <a:noFill/>
          <a:ln/>
        </p:spPr>
        <p:txBody>
          <a:bodyPr wrap="square" lIns="0" tIns="0" rIns="0" bIns="0" rtlCol="0" anchor="ctr"/>
          <a:lstStyle/>
          <a:p>
            <a:pPr indent="0" marL="0">
              <a:buNone/>
            </a:pPr>
            <a:r>
              <a:rPr lang="en-US" sz="1400" dirty="0">
                <a:solidFill>
                  <a:srgbClr val="5EEAD4"/>
                </a:solidFill>
                <a:latin typeface="Courier New" pitchFamily="34" charset="0"/>
                <a:ea typeface="Courier New" pitchFamily="34" charset="-122"/>
                <a:cs typeface="Courier New" pitchFamily="34" charset="-120"/>
              </a:rPr>
              <a:t>terraform init</a:t>
            </a:r>
            <a:endParaRPr lang="en-US" sz="1400" dirty="0"/>
          </a:p>
          <a:p>
            <a:pPr indent="0" marL="0">
              <a:buNone/>
            </a:pPr>
            <a:r>
              <a:rPr lang="en-US" sz="1400" dirty="0">
                <a:solidFill>
                  <a:srgbClr val="5EEAD4"/>
                </a:solidFill>
                <a:latin typeface="Courier New" pitchFamily="34" charset="0"/>
                <a:ea typeface="Courier New" pitchFamily="34" charset="-122"/>
                <a:cs typeface="Courier New" pitchFamily="34" charset="-120"/>
              </a:rPr>
              <a:t>terraform plan</a:t>
            </a:r>
            <a:endParaRPr lang="en-US" sz="1400" dirty="0"/>
          </a:p>
          <a:p>
            <a:pPr indent="0" marL="0">
              <a:buNone/>
            </a:pPr>
            <a:r>
              <a:rPr lang="en-US" sz="1400" dirty="0">
                <a:solidFill>
                  <a:srgbClr val="5EEAD4"/>
                </a:solidFill>
                <a:latin typeface="Courier New" pitchFamily="34" charset="0"/>
                <a:ea typeface="Courier New" pitchFamily="34" charset="-122"/>
                <a:cs typeface="Courier New" pitchFamily="34" charset="-120"/>
              </a:rPr>
              <a:t>terraform apply</a:t>
            </a:r>
            <a:endParaRPr lang="en-US" sz="1400" dirty="0"/>
          </a:p>
          <a:p>
            <a:pPr indent="0" marL="0">
              <a:buNone/>
            </a:pPr>
            <a:r>
              <a:rPr lang="en-US" sz="1400" dirty="0">
                <a:solidFill>
                  <a:srgbClr val="5EEAD4"/>
                </a:solidFill>
                <a:latin typeface="Courier New" pitchFamily="34" charset="0"/>
                <a:ea typeface="Courier New" pitchFamily="34" charset="-122"/>
                <a:cs typeface="Courier New" pitchFamily="34" charset="-120"/>
              </a:rPr>
              <a:t>terraform destroy</a:t>
            </a:r>
            <a:endParaRPr lang="en-US" sz="1400" dirty="0"/>
          </a:p>
        </p:txBody>
      </p:sp>
      <p:sp>
        <p:nvSpPr>
          <p:cNvPr id="18" name="Text 16"/>
          <p:cNvSpPr txBox="1"/>
          <p:nvPr/>
        </p:nvSpPr>
        <p:spPr>
          <a:xfrm>
            <a:off x="7680960" y="4343400"/>
            <a:ext cx="3977640" cy="11430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Status: terraform validate passes. Not applied, since I don't have a paid AWS account; the same Helm chart runs on a local kind cluster instead.</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Kubernetes deployment with Helm</a:t>
            </a:r>
            <a:endParaRPr lang="en-US" sz="3200" dirty="0"/>
          </a:p>
        </p:txBody>
      </p:sp>
      <p:sp>
        <p:nvSpPr>
          <p:cNvPr id="3" name="Shape 1"/>
          <p:cNvSpPr/>
          <p:nvPr/>
        </p:nvSpPr>
        <p:spPr>
          <a:xfrm>
            <a:off x="512064" y="1443280"/>
            <a:ext cx="5925312" cy="4382921"/>
          </a:xfrm>
          <a:prstGeom prst="rect">
            <a:avLst/>
          </a:prstGeom>
          <a:solidFill>
            <a:srgbClr val="FFFFFF"/>
          </a:solidFill>
          <a:ln w="9525">
            <a:solidFill>
              <a:srgbClr val="CBD5E1"/>
            </a:solidFill>
            <a:prstDash val="solid"/>
          </a:ln>
          <a:effectLst>
            <a:outerShdw sx="100000" sy="100000" kx="0" ky="0" algn="bl" rotWithShape="0" blurRad="101600" dist="38100" dir="5400000">
              <a:srgbClr val="000000">
                <a:alpha val="18000"/>
              </a:srgbClr>
            </a:outerShdw>
          </a:effectLst>
        </p:spPr>
      </p:sp>
      <p:pic>
        <p:nvPicPr>
          <p:cNvPr id="4" name="Image 0" descr="14_kubectl_pods_running.png">    </p:cNvPr>
          <p:cNvPicPr>
            <a:picLocks noChangeAspect="1"/>
          </p:cNvPicPr>
          <p:nvPr/>
        </p:nvPicPr>
        <p:blipFill>
          <a:blip r:embed="rId1"/>
          <a:stretch>
            <a:fillRect/>
          </a:stretch>
        </p:blipFill>
        <p:spPr>
          <a:xfrm>
            <a:off x="548640" y="1479856"/>
            <a:ext cx="5852160" cy="4309769"/>
          </a:xfrm>
          <a:prstGeom prst="rect">
            <a:avLst/>
          </a:prstGeom>
        </p:spPr>
      </p:pic>
      <p:sp>
        <p:nvSpPr>
          <p:cNvPr id="5" name="Text 2"/>
          <p:cNvSpPr txBox="1"/>
          <p:nvPr/>
        </p:nvSpPr>
        <p:spPr>
          <a:xfrm>
            <a:off x="548640" y="6080760"/>
            <a:ext cx="58521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helm upgrade --install, then every pod Running</a:t>
            </a:r>
            <a:endParaRPr lang="en-US" sz="1100" dirty="0"/>
          </a:p>
        </p:txBody>
      </p:sp>
      <p:sp>
        <p:nvSpPr>
          <p:cNvPr id="6" name="Shape 3"/>
          <p:cNvSpPr/>
          <p:nvPr/>
        </p:nvSpPr>
        <p:spPr>
          <a:xfrm>
            <a:off x="6766560" y="1298448"/>
            <a:ext cx="384048" cy="384048"/>
          </a:xfrm>
          <a:prstGeom prst="ellipse">
            <a:avLst/>
          </a:prstGeom>
          <a:solidFill>
            <a:srgbClr val="0F766E"/>
          </a:solidFill>
          <a:ln w="12700">
            <a:solidFill>
              <a:srgbClr val="0F766E"/>
            </a:solidFill>
            <a:prstDash val="solid"/>
          </a:ln>
        </p:spPr>
      </p:sp>
      <p:sp>
        <p:nvSpPr>
          <p:cNvPr id="7" name="Text 4"/>
          <p:cNvSpPr txBox="1"/>
          <p:nvPr/>
        </p:nvSpPr>
        <p:spPr>
          <a:xfrm>
            <a:off x="6766560" y="1298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7315200" y="1243584"/>
            <a:ext cx="4343400" cy="740664"/>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Deployments self-heal</a:t>
            </a:r>
            <a:endParaRPr lang="en-US" sz="1500" dirty="0"/>
          </a:p>
          <a:p>
            <a:pPr indent="0" marL="0">
              <a:buNone/>
            </a:pPr>
            <a:r>
              <a:rPr lang="en-US" sz="1200" dirty="0">
                <a:solidFill>
                  <a:srgbClr val="64748B"/>
                </a:solidFill>
                <a:latin typeface="Calibri" pitchFamily="34" charset="0"/>
                <a:ea typeface="Calibri" pitchFamily="34" charset="-122"/>
                <a:cs typeface="Calibri" pitchFamily="34" charset="-120"/>
              </a:rPr>
              <a:t>A crashed pod is replaced automatically</a:t>
            </a:r>
            <a:endParaRPr lang="en-US" sz="1500" dirty="0"/>
          </a:p>
        </p:txBody>
      </p:sp>
      <p:sp>
        <p:nvSpPr>
          <p:cNvPr id="9" name="Shape 6"/>
          <p:cNvSpPr/>
          <p:nvPr/>
        </p:nvSpPr>
        <p:spPr>
          <a:xfrm>
            <a:off x="6766560" y="2084832"/>
            <a:ext cx="384048" cy="384048"/>
          </a:xfrm>
          <a:prstGeom prst="ellipse">
            <a:avLst/>
          </a:prstGeom>
          <a:solidFill>
            <a:srgbClr val="0F766E"/>
          </a:solidFill>
          <a:ln w="12700">
            <a:solidFill>
              <a:srgbClr val="0F766E"/>
            </a:solidFill>
            <a:prstDash val="solid"/>
          </a:ln>
        </p:spPr>
      </p:sp>
      <p:sp>
        <p:nvSpPr>
          <p:cNvPr id="10" name="Text 7"/>
          <p:cNvSpPr txBox="1"/>
          <p:nvPr/>
        </p:nvSpPr>
        <p:spPr>
          <a:xfrm>
            <a:off x="6766560"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7315200" y="2029968"/>
            <a:ext cx="4343400" cy="740664"/>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Services give stable networking</a:t>
            </a:r>
            <a:endParaRPr lang="en-US" sz="1500" dirty="0"/>
          </a:p>
          <a:p>
            <a:pPr indent="0" marL="0">
              <a:buNone/>
            </a:pPr>
            <a:r>
              <a:rPr lang="en-US" sz="1200" dirty="0">
                <a:solidFill>
                  <a:srgbClr val="64748B"/>
                </a:solidFill>
                <a:latin typeface="Calibri" pitchFamily="34" charset="0"/>
                <a:ea typeface="Calibri" pitchFamily="34" charset="-122"/>
                <a:cs typeface="Calibri" pitchFamily="34" charset="-120"/>
              </a:rPr>
              <a:t>Pods come and go; the Service selects them by label</a:t>
            </a:r>
            <a:endParaRPr lang="en-US" sz="1500" dirty="0"/>
          </a:p>
        </p:txBody>
      </p:sp>
      <p:sp>
        <p:nvSpPr>
          <p:cNvPr id="12" name="Shape 9"/>
          <p:cNvSpPr/>
          <p:nvPr/>
        </p:nvSpPr>
        <p:spPr>
          <a:xfrm>
            <a:off x="6766560" y="2871216"/>
            <a:ext cx="384048" cy="384048"/>
          </a:xfrm>
          <a:prstGeom prst="ellipse">
            <a:avLst/>
          </a:prstGeom>
          <a:solidFill>
            <a:srgbClr val="0F766E"/>
          </a:solidFill>
          <a:ln w="12700">
            <a:solidFill>
              <a:srgbClr val="0F766E"/>
            </a:solidFill>
            <a:prstDash val="solid"/>
          </a:ln>
        </p:spPr>
      </p:sp>
      <p:sp>
        <p:nvSpPr>
          <p:cNvPr id="13" name="Text 10"/>
          <p:cNvSpPr txBox="1"/>
          <p:nvPr/>
        </p:nvSpPr>
        <p:spPr>
          <a:xfrm>
            <a:off x="6766560" y="2871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7315200" y="2816352"/>
            <a:ext cx="4343400" cy="740664"/>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Probes</a:t>
            </a:r>
            <a:endParaRPr lang="en-US" sz="1500" dirty="0"/>
          </a:p>
          <a:p>
            <a:pPr indent="0" marL="0">
              <a:buNone/>
            </a:pPr>
            <a:r>
              <a:rPr lang="en-US" sz="1200" dirty="0">
                <a:solidFill>
                  <a:srgbClr val="64748B"/>
                </a:solidFill>
                <a:latin typeface="Calibri" pitchFamily="34" charset="0"/>
                <a:ea typeface="Calibri" pitchFamily="34" charset="-122"/>
                <a:cs typeface="Calibri" pitchFamily="34" charset="-120"/>
              </a:rPr>
              <a:t>/health = liveness, /ready = readiness (checks DB)</a:t>
            </a:r>
            <a:endParaRPr lang="en-US" sz="1500" dirty="0"/>
          </a:p>
        </p:txBody>
      </p:sp>
      <p:sp>
        <p:nvSpPr>
          <p:cNvPr id="15" name="Shape 12"/>
          <p:cNvSpPr/>
          <p:nvPr/>
        </p:nvSpPr>
        <p:spPr>
          <a:xfrm>
            <a:off x="6766560" y="3657600"/>
            <a:ext cx="384048" cy="384048"/>
          </a:xfrm>
          <a:prstGeom prst="ellipse">
            <a:avLst/>
          </a:prstGeom>
          <a:solidFill>
            <a:srgbClr val="0F766E"/>
          </a:solidFill>
          <a:ln w="12700">
            <a:solidFill>
              <a:srgbClr val="0F766E"/>
            </a:solidFill>
            <a:prstDash val="solid"/>
          </a:ln>
        </p:spPr>
      </p:sp>
      <p:sp>
        <p:nvSpPr>
          <p:cNvPr id="16" name="Text 13"/>
          <p:cNvSpPr txBox="1"/>
          <p:nvPr/>
        </p:nvSpPr>
        <p:spPr>
          <a:xfrm>
            <a:off x="6766560" y="3657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4"/>
          <p:cNvSpPr txBox="1"/>
          <p:nvPr/>
        </p:nvSpPr>
        <p:spPr>
          <a:xfrm>
            <a:off x="7315200" y="3602736"/>
            <a:ext cx="4343400" cy="740664"/>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PostgreSQL StatefulSet + PVC</a:t>
            </a:r>
            <a:endParaRPr lang="en-US" sz="1500" dirty="0"/>
          </a:p>
          <a:p>
            <a:pPr indent="0" marL="0">
              <a:buNone/>
            </a:pPr>
            <a:r>
              <a:rPr lang="en-US" sz="1200" dirty="0">
                <a:solidFill>
                  <a:srgbClr val="64748B"/>
                </a:solidFill>
                <a:latin typeface="Calibri" pitchFamily="34" charset="0"/>
                <a:ea typeface="Calibri" pitchFamily="34" charset="-122"/>
                <a:cs typeface="Calibri" pitchFamily="34" charset="-120"/>
              </a:rPr>
              <a:t>Data survives pod restarts</a:t>
            </a:r>
            <a:endParaRPr lang="en-US" sz="1500" dirty="0"/>
          </a:p>
        </p:txBody>
      </p:sp>
      <p:sp>
        <p:nvSpPr>
          <p:cNvPr id="18" name="Shape 15"/>
          <p:cNvSpPr/>
          <p:nvPr/>
        </p:nvSpPr>
        <p:spPr>
          <a:xfrm>
            <a:off x="6766560" y="4443984"/>
            <a:ext cx="384048" cy="384048"/>
          </a:xfrm>
          <a:prstGeom prst="ellipse">
            <a:avLst/>
          </a:prstGeom>
          <a:solidFill>
            <a:srgbClr val="0F766E"/>
          </a:solidFill>
          <a:ln w="12700">
            <a:solidFill>
              <a:srgbClr val="0F766E"/>
            </a:solidFill>
            <a:prstDash val="solid"/>
          </a:ln>
        </p:spPr>
      </p:sp>
      <p:sp>
        <p:nvSpPr>
          <p:cNvPr id="19" name="Text 16"/>
          <p:cNvSpPr txBox="1"/>
          <p:nvPr/>
        </p:nvSpPr>
        <p:spPr>
          <a:xfrm>
            <a:off x="6766560" y="4443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7"/>
          <p:cNvSpPr txBox="1"/>
          <p:nvPr/>
        </p:nvSpPr>
        <p:spPr>
          <a:xfrm>
            <a:off x="7315200" y="4389120"/>
            <a:ext cx="4343400" cy="740664"/>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One Helm chart</a:t>
            </a:r>
            <a:endParaRPr lang="en-US" sz="1500" dirty="0"/>
          </a:p>
          <a:p>
            <a:pPr indent="0" marL="0">
              <a:buNone/>
            </a:pPr>
            <a:r>
              <a:rPr lang="en-US" sz="1200" dirty="0">
                <a:solidFill>
                  <a:srgbClr val="64748B"/>
                </a:solidFill>
                <a:latin typeface="Calibri" pitchFamily="34" charset="0"/>
                <a:ea typeface="Calibri" pitchFamily="34" charset="-122"/>
                <a:cs typeface="Calibri" pitchFamily="34" charset="-120"/>
              </a:rPr>
              <a:t>values for dev, local and EKS; upgrade and rollback</a:t>
            </a:r>
            <a:endParaRPr lang="en-US" sz="1500" dirty="0"/>
          </a:p>
        </p:txBody>
      </p:sp>
      <p:sp>
        <p:nvSpPr>
          <p:cNvPr id="21" name="Text 18"/>
          <p:cNvSpPr txBox="1"/>
          <p:nvPr/>
        </p:nvSpPr>
        <p:spPr>
          <a:xfrm>
            <a:off x="6766560" y="5440680"/>
            <a:ext cx="4892040" cy="365760"/>
          </a:xfrm>
          <a:prstGeom prst="rect">
            <a:avLst/>
          </a:prstGeom>
          <a:noFill/>
          <a:ln/>
        </p:spPr>
        <p:txBody>
          <a:bodyPr wrap="square" lIns="0" tIns="0" rIns="0" bIns="0" rtlCol="0" anchor="ctr"/>
          <a:lstStyle/>
          <a:p>
            <a:pPr indent="0" marL="0">
              <a:buNone/>
            </a:pPr>
            <a:r>
              <a:rPr lang="en-US" sz="1400" b="1" dirty="0">
                <a:solidFill>
                  <a:srgbClr val="0F1F2A"/>
                </a:solidFill>
                <a:latin typeface="Calibri" pitchFamily="34" charset="0"/>
                <a:ea typeface="Calibri" pitchFamily="34" charset="-122"/>
                <a:cs typeface="Calibri" pitchFamily="34" charset="-120"/>
              </a:rPr>
              <a:t>helm list:  </a:t>
            </a:r>
            <a:pPr indent="0" marL="0">
              <a:buNone/>
            </a:pPr>
            <a:r>
              <a:rPr lang="en-US" sz="1400" dirty="0">
                <a:solidFill>
                  <a:srgbClr val="1E293B"/>
                </a:solidFill>
                <a:latin typeface="Calibri" pitchFamily="34" charset="0"/>
                <a:ea typeface="Calibri" pitchFamily="34" charset="-122"/>
                <a:cs typeface="Calibri" pitchFamily="34" charset="-120"/>
              </a:rPr>
              <a:t>release careslot · revision 3 · deployed</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rgbClr val="0F1F2A"/>
                </a:solidFill>
                <a:latin typeface="Cambria" pitchFamily="34" charset="0"/>
                <a:ea typeface="Cambria" pitchFamily="34" charset="-122"/>
                <a:cs typeface="Cambria" pitchFamily="34" charset="-120"/>
              </a:rPr>
              <a:t>Autoscaling &amp; monitoring</a:t>
            </a:r>
            <a:endParaRPr lang="en-US" sz="3200" dirty="0"/>
          </a:p>
        </p:txBody>
      </p:sp>
      <p:sp>
        <p:nvSpPr>
          <p:cNvPr id="3" name="Shape 1"/>
          <p:cNvSpPr/>
          <p:nvPr/>
        </p:nvSpPr>
        <p:spPr>
          <a:xfrm>
            <a:off x="512064" y="1200722"/>
            <a:ext cx="7296912" cy="4136517"/>
          </a:xfrm>
          <a:prstGeom prst="rect">
            <a:avLst/>
          </a:prstGeom>
          <a:solidFill>
            <a:srgbClr val="FFFFFF"/>
          </a:solidFill>
          <a:ln w="9525">
            <a:solidFill>
              <a:srgbClr val="CBD5E1"/>
            </a:solidFill>
            <a:prstDash val="solid"/>
          </a:ln>
          <a:effectLst>
            <a:outerShdw sx="100000" sy="100000" kx="0" ky="0" algn="bl" rotWithShape="0" blurRad="101600" dist="38100" dir="5400000">
              <a:srgbClr val="000000">
                <a:alpha val="18000"/>
              </a:srgbClr>
            </a:outerShdw>
          </a:effectLst>
        </p:spPr>
      </p:sp>
      <p:pic>
        <p:nvPicPr>
          <p:cNvPr id="4" name="Image 0" descr="18_grafana_dashboard.png">    </p:cNvPr>
          <p:cNvPicPr>
            <a:picLocks noChangeAspect="1"/>
          </p:cNvPicPr>
          <p:nvPr/>
        </p:nvPicPr>
        <p:blipFill>
          <a:blip r:embed="rId1"/>
          <a:stretch>
            <a:fillRect/>
          </a:stretch>
        </p:blipFill>
        <p:spPr>
          <a:xfrm>
            <a:off x="548640" y="1237298"/>
            <a:ext cx="7223760" cy="4063365"/>
          </a:xfrm>
          <a:prstGeom prst="rect">
            <a:avLst/>
          </a:prstGeom>
        </p:spPr>
      </p:pic>
      <p:sp>
        <p:nvSpPr>
          <p:cNvPr id="5" name="Text 2"/>
          <p:cNvSpPr txBox="1"/>
          <p:nvPr/>
        </p:nvSpPr>
        <p:spPr>
          <a:xfrm>
            <a:off x="548640" y="5349240"/>
            <a:ext cx="722376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Grafana dashboard: requests, p95 latency, 5xx rate, pods and CPU per pod</a:t>
            </a:r>
            <a:endParaRPr lang="en-US" sz="1100" dirty="0"/>
          </a:p>
        </p:txBody>
      </p:sp>
      <p:sp>
        <p:nvSpPr>
          <p:cNvPr id="6" name="Shape 3"/>
          <p:cNvSpPr/>
          <p:nvPr/>
        </p:nvSpPr>
        <p:spPr>
          <a:xfrm>
            <a:off x="8092440" y="1234440"/>
            <a:ext cx="3566160" cy="1143000"/>
          </a:xfrm>
          <a:prstGeom prst="roundRect">
            <a:avLst>
              <a:gd name="adj" fmla="val 9600"/>
            </a:avLst>
          </a:prstGeom>
          <a:solidFill>
            <a:srgbClr val="E0F2F1"/>
          </a:solidFill>
          <a:ln w="12700">
            <a:solidFill>
              <a:srgbClr val="E0F2F1"/>
            </a:solidFill>
            <a:prstDash val="solid"/>
          </a:ln>
        </p:spPr>
      </p:sp>
      <p:sp>
        <p:nvSpPr>
          <p:cNvPr id="7" name="Text 4"/>
          <p:cNvSpPr txBox="1"/>
          <p:nvPr/>
        </p:nvSpPr>
        <p:spPr>
          <a:xfrm>
            <a:off x="8275320" y="1325880"/>
            <a:ext cx="3200400" cy="59436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2 → 6</a:t>
            </a:r>
            <a:endParaRPr lang="en-US" sz="3400" dirty="0"/>
          </a:p>
        </p:txBody>
      </p:sp>
      <p:sp>
        <p:nvSpPr>
          <p:cNvPr id="8" name="Text 5"/>
          <p:cNvSpPr txBox="1"/>
          <p:nvPr/>
        </p:nvSpPr>
        <p:spPr>
          <a:xfrm>
            <a:off x="8275320" y="1920240"/>
            <a:ext cx="320040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backend pods under load (HPA, CPU target 60%)</a:t>
            </a:r>
            <a:endParaRPr lang="en-US" sz="1200" dirty="0"/>
          </a:p>
        </p:txBody>
      </p:sp>
      <p:sp>
        <p:nvSpPr>
          <p:cNvPr id="9" name="Shape 6"/>
          <p:cNvSpPr/>
          <p:nvPr/>
        </p:nvSpPr>
        <p:spPr>
          <a:xfrm>
            <a:off x="8092440" y="2560320"/>
            <a:ext cx="3566160" cy="1143000"/>
          </a:xfrm>
          <a:prstGeom prst="roundRect">
            <a:avLst>
              <a:gd name="adj" fmla="val 9600"/>
            </a:avLst>
          </a:prstGeom>
          <a:solidFill>
            <a:srgbClr val="E0F2F1"/>
          </a:solidFill>
          <a:ln w="12700">
            <a:solidFill>
              <a:srgbClr val="E0F2F1"/>
            </a:solidFill>
            <a:prstDash val="solid"/>
          </a:ln>
        </p:spPr>
      </p:sp>
      <p:sp>
        <p:nvSpPr>
          <p:cNvPr id="10" name="Text 7"/>
          <p:cNvSpPr txBox="1"/>
          <p:nvPr/>
        </p:nvSpPr>
        <p:spPr>
          <a:xfrm>
            <a:off x="8275320" y="2651760"/>
            <a:ext cx="3200400" cy="594360"/>
          </a:xfrm>
          <a:prstGeom prst="rect">
            <a:avLst/>
          </a:prstGeom>
          <a:noFill/>
          <a:ln/>
        </p:spPr>
        <p:txBody>
          <a:bodyPr wrap="square" lIns="0" tIns="0" rIns="0" bIns="0" rtlCol="0" anchor="ctr"/>
          <a:lstStyle/>
          <a:p>
            <a:pPr indent="0" marL="0">
              <a:buNone/>
            </a:pPr>
            <a:r>
              <a:rPr lang="en-US" sz="3400" b="1" dirty="0">
                <a:solidFill>
                  <a:srgbClr val="B45309"/>
                </a:solidFill>
                <a:latin typeface="Cambria" pitchFamily="34" charset="0"/>
                <a:ea typeface="Cambria" pitchFamily="34" charset="-122"/>
                <a:cs typeface="Cambria" pitchFamily="34" charset="-120"/>
              </a:rPr>
              <a:t>6 / 6</a:t>
            </a:r>
            <a:endParaRPr lang="en-US" sz="3400" dirty="0"/>
          </a:p>
        </p:txBody>
      </p:sp>
      <p:sp>
        <p:nvSpPr>
          <p:cNvPr id="11" name="Text 8"/>
          <p:cNvSpPr txBox="1"/>
          <p:nvPr/>
        </p:nvSpPr>
        <p:spPr>
          <a:xfrm>
            <a:off x="8275320" y="3246120"/>
            <a:ext cx="320040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Prometheus targets UP via ServiceMonitor</a:t>
            </a:r>
            <a:endParaRPr lang="en-US" sz="1200" dirty="0"/>
          </a:p>
        </p:txBody>
      </p:sp>
      <p:sp>
        <p:nvSpPr>
          <p:cNvPr id="12" name="Text 9"/>
          <p:cNvSpPr txBox="1"/>
          <p:nvPr/>
        </p:nvSpPr>
        <p:spPr>
          <a:xfrm>
            <a:off x="8092440" y="3931920"/>
            <a:ext cx="3566160" cy="2103120"/>
          </a:xfrm>
          <a:prstGeom prst="rect">
            <a:avLst/>
          </a:prstGeom>
          <a:noFill/>
          <a:ln/>
        </p:spPr>
        <p:txBody>
          <a:bodyPr wrap="square" lIns="0" tIns="0" rIns="0" bIns="0" rtlCol="0" anchor="t"/>
          <a:lstStyle/>
          <a:p>
            <a:pPr indent="0" marL="0">
              <a:buNone/>
            </a:pPr>
            <a:r>
              <a:rPr lang="en-US" sz="1600" b="1" dirty="0">
                <a:solidFill>
                  <a:srgbClr val="0F1F2A"/>
                </a:solidFill>
                <a:latin typeface="Calibri" pitchFamily="34" charset="0"/>
                <a:ea typeface="Calibri" pitchFamily="34" charset="-122"/>
                <a:cs typeface="Calibri" pitchFamily="34" charset="-120"/>
              </a:rPr>
              <a:t>How it works</a:t>
            </a:r>
            <a:endParaRPr lang="en-US" sz="1600" dirty="0"/>
          </a:p>
          <a:p>
            <a:pPr indent="0" marL="0">
              <a:buNone/>
            </a:pPr>
            <a:r>
              <a:rPr lang="en-US" sz="1300" dirty="0">
                <a:solidFill>
                  <a:srgbClr val="1E293B"/>
                </a:solidFill>
                <a:latin typeface="Calibri" pitchFamily="34" charset="0"/>
                <a:ea typeface="Calibri" pitchFamily="34" charset="-122"/>
                <a:cs typeface="Calibri" pitchFamily="34" charset="-120"/>
              </a:rPr>
              <a:t>metrics-server reports pod CPU; the HPA adds pods above 60% and removes them when load drops. Prometheus scrapes /metrics from every pod and Grafana answers: is traffic arriving, which endpoint is slow, are errors rising?</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Troubleshooting lab &amp; takeaways</a:t>
            </a:r>
            <a:endParaRPr lang="en-US" sz="3200" dirty="0"/>
          </a:p>
        </p:txBody>
      </p:sp>
      <p:pic>
        <p:nvPicPr>
          <p:cNvPr id="3" name="Image 0" descr="broken service lab">    </p:cNvPr>
          <p:cNvPicPr>
            <a:picLocks noChangeAspect="1"/>
          </p:cNvPicPr>
          <p:nvPr/>
        </p:nvPicPr>
        <p:blipFill>
          <a:blip r:embed="rId1"/>
          <a:stretch>
            <a:fillRect/>
          </a:stretch>
        </p:blipFill>
        <p:spPr>
          <a:xfrm>
            <a:off x="548640" y="1280160"/>
            <a:ext cx="6035040" cy="3779572"/>
          </a:xfrm>
          <a:prstGeom prst="rect">
            <a:avLst/>
          </a:prstGeom>
          <a:effectLst>
            <a:outerShdw sx="100000" sy="100000" kx="0" ky="0" algn="bl" rotWithShape="0" blurRad="152400" dist="63500" dir="5400000">
              <a:srgbClr val="000000">
                <a:alpha val="45000"/>
              </a:srgbClr>
            </a:outerShdw>
          </a:effectLst>
        </p:spPr>
      </p:pic>
      <p:sp>
        <p:nvSpPr>
          <p:cNvPr id="4" name="Text 1"/>
          <p:cNvSpPr txBox="1"/>
          <p:nvPr/>
        </p:nvSpPr>
        <p:spPr>
          <a:xfrm>
            <a:off x="548640" y="5166360"/>
            <a:ext cx="6035040" cy="457200"/>
          </a:xfrm>
          <a:prstGeom prst="rect">
            <a:avLst/>
          </a:prstGeom>
          <a:noFill/>
          <a:ln/>
        </p:spPr>
        <p:txBody>
          <a:bodyPr wrap="square" lIns="0" tIns="0" rIns="0" bIns="0" rtlCol="0" anchor="ctr"/>
          <a:lstStyle/>
          <a:p>
            <a:pPr indent="0" marL="0">
              <a:buNone/>
            </a:pPr>
            <a:r>
              <a:rPr lang="en-US" sz="1200" i="1" dirty="0">
                <a:solidFill>
                  <a:srgbClr val="7F93A1"/>
                </a:solidFill>
                <a:latin typeface="Calibri" pitchFamily="34" charset="0"/>
                <a:ea typeface="Calibri" pitchFamily="34" charset="-122"/>
                <a:cs typeface="Calibri" pitchFamily="34" charset="-120"/>
              </a:rPr>
              <a:t>Broken Service: wrong label selector → no endpoints → patch the selector → endpoints appear</a:t>
            </a:r>
            <a:endParaRPr lang="en-US" sz="1200" dirty="0"/>
          </a:p>
        </p:txBody>
      </p:sp>
      <p:sp>
        <p:nvSpPr>
          <p:cNvPr id="5" name="Text 2"/>
          <p:cNvSpPr txBox="1"/>
          <p:nvPr/>
        </p:nvSpPr>
        <p:spPr>
          <a:xfrm>
            <a:off x="6949440" y="1280160"/>
            <a:ext cx="4709160" cy="4754880"/>
          </a:xfrm>
          <a:prstGeom prst="rect">
            <a:avLst/>
          </a:prstGeom>
          <a:noFill/>
          <a:ln/>
        </p:spPr>
        <p:txBody>
          <a:bodyPr wrap="square" lIns="0" tIns="0" rIns="0" bIns="0" rtlCol="0" anchor="t"/>
          <a:lstStyle/>
          <a:p>
            <a:pPr indent="0" marL="0">
              <a:spcAft>
                <a:spcPts val="400"/>
              </a:spcAft>
              <a:buNone/>
            </a:pPr>
            <a:r>
              <a:rPr lang="en-US" sz="1700" b="1" dirty="0">
                <a:solidFill>
                  <a:srgbClr val="5EEAD4"/>
                </a:solidFill>
                <a:latin typeface="Calibri" pitchFamily="34" charset="0"/>
                <a:ea typeface="Calibri" pitchFamily="34" charset="-122"/>
                <a:cs typeface="Calibri" pitchFamily="34" charset="-120"/>
              </a:rPr>
              <a:t>Two failure drills</a:t>
            </a:r>
            <a:endParaRPr lang="en-US" sz="1700" dirty="0"/>
          </a:p>
          <a:p>
            <a:pPr marL="190500" indent="-1905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Broken image → ImagePullBackOff → describe pod → fix tag</a:t>
            </a:r>
            <a:endParaRPr lang="en-US" sz="1700" dirty="0"/>
          </a:p>
          <a:p>
            <a:pPr marL="190500" indent="-1905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Broken Service → no endpoints → compare labels → fix selector</a:t>
            </a:r>
            <a:endParaRPr lang="en-US" sz="17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spcAft>
                <a:spcPts val="400"/>
              </a:spcAft>
              <a:buNone/>
            </a:pPr>
            <a:r>
              <a:rPr lang="en-US" sz="1700" b="1" dirty="0">
                <a:solidFill>
                  <a:srgbClr val="5EEAD4"/>
                </a:solidFill>
                <a:latin typeface="Calibri" pitchFamily="34" charset="0"/>
                <a:ea typeface="Calibri" pitchFamily="34" charset="-122"/>
                <a:cs typeface="Calibri" pitchFamily="34" charset="-120"/>
              </a:rPr>
              <a:t>What I learned</a:t>
            </a:r>
            <a:endParaRPr lang="en-US" sz="1700" dirty="0"/>
          </a:p>
          <a:p>
            <a:pPr marL="190500" indent="-1905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Automate the quality gates: tests and scans before every push</a:t>
            </a:r>
            <a:endParaRPr lang="en-US" sz="1700" dirty="0"/>
          </a:p>
          <a:p>
            <a:pPr marL="190500" indent="-1905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Readiness vs liveness, and DB migrations under concurrent pods (advisory lock)</a:t>
            </a:r>
            <a:endParaRPr lang="en-US" sz="1700" dirty="0"/>
          </a:p>
          <a:p>
            <a:pPr marL="190500" indent="-1905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Observability first: metrics made the HPA and the bugs visible</a:t>
            </a:r>
            <a:endParaRPr lang="en-US" sz="1700" dirty="0"/>
          </a:p>
          <a:p>
            <a:pPr indent="0" marL="0">
              <a:spcAft>
                <a:spcPts val="400"/>
              </a:spcAft>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spcAft>
                <a:spcPts val="400"/>
              </a:spcAft>
              <a:buNone/>
            </a:pPr>
            <a:r>
              <a:rPr lang="en-US" sz="1300" i="1" dirty="0">
                <a:solidFill>
                  <a:srgbClr val="C7D3DC"/>
                </a:solidFill>
                <a:latin typeface="Calibri" pitchFamily="34" charset="0"/>
                <a:ea typeface="Calibri" pitchFamily="34" charset="-122"/>
                <a:cs typeface="Calibri" pitchFamily="34" charset="-120"/>
              </a:rPr>
              <a:t>Next: apply Terraform on AWS, move Postgres to RDS, add SAST (Bandit/Semgrep)</a:t>
            </a:r>
            <a:endParaRPr lang="en-US" sz="1700" dirty="0"/>
          </a:p>
        </p:txBody>
      </p:sp>
      <p:sp>
        <p:nvSpPr>
          <p:cNvPr id="6" name="Text 3"/>
          <p:cNvSpPr txBox="1"/>
          <p:nvPr/>
        </p:nvSpPr>
        <p:spPr>
          <a:xfrm>
            <a:off x="548640" y="5760720"/>
            <a:ext cx="110642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Slides: </a:t>
            </a:r>
            <a:pPr indent="0" marL="0">
              <a:buNone/>
            </a:pPr>
            <a:r>
              <a:rPr lang="en-US" sz="1300" u="sng" dirty="0">
                <a:solidFill>
                  <a:srgbClr val="5EEAD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docs.google.com/presentation/d/1gozq9zRrB_hWzUNHuiw40d-w5joAO3xT</a:t>
            </a:r>
            <a:endParaRPr lang="en-US" sz="1300" dirty="0"/>
          </a:p>
        </p:txBody>
      </p:sp>
      <p:sp>
        <p:nvSpPr>
          <p:cNvPr id="7" name="Text 4"/>
          <p:cNvSpPr txBox="1"/>
          <p:nvPr/>
        </p:nvSpPr>
        <p:spPr>
          <a:xfrm>
            <a:off x="548640" y="6172200"/>
            <a:ext cx="11064240" cy="365760"/>
          </a:xfrm>
          <a:prstGeom prst="rect">
            <a:avLst/>
          </a:prstGeom>
          <a:noFill/>
          <a:ln/>
        </p:spPr>
        <p:txBody>
          <a:bodyPr wrap="square" lIns="0" tIns="0" rIns="0" bIns="0"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Thank you · github.com/Yashukiran/careslot-devops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CareSlot – DevOps Project</dc:title>
  <dc:subject>PptxGenJS Presentation</dc:subject>
  <dc:creator>PptxGenJS</dc:creator>
  <cp:lastModifiedBy>PptxGenJS</cp:lastModifiedBy>
  <cp:revision>1</cp:revision>
  <dcterms:created xsi:type="dcterms:W3CDTF">2026-10-16T17:39:23Z</dcterms:created>
  <dcterms:modified xsi:type="dcterms:W3CDTF">2026-10-16T17:39:23Z</dcterms:modified>
</cp:coreProperties>
</file>